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670560"/>
            <a:ext cx="43281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75" b="1" a:ea="Microsoft YaHei" a:latin="Microsoft YaHei">
                <a:solidFill>
                  <a:srgbClr val="D7B35C"/>
                </a:solidFill>
                <a:latin typeface="Microsoft YaHei"/>
              </a:rPr>
              <a:t>技术混合受众 · 全部静态回放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19" y="1402080"/>
            <a:ext cx="70713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4650" b="1" a:ea="Microsoft YaHei" a:latin="Aptos">
                <a:solidFill>
                  <a:srgbClr val="FBFAF6"/>
                </a:solidFill>
                <a:latin typeface="Aptos"/>
              </a:rPr>
              <a:t>Vibe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2316480"/>
            <a:ext cx="7071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50" b="0" a:ea="Microsoft YaHei" a:latin="Microsoft YaHei">
                <a:solidFill>
                  <a:srgbClr val="FBFAF6"/>
                </a:solidFill>
                <a:latin typeface="Microsoft YaHei"/>
              </a:rPr>
              <a:t>从需求到证据的受控开发闭环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19" y="3230880"/>
            <a:ext cx="7071360" cy="0"/>
          </a:xfrm>
          <a:prstGeom prst="line">
            <a:avLst/>
          </a:prstGeom>
          <a:ln w="9525">
            <a:solidFill>
              <a:srgbClr val="536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19" y="3596640"/>
            <a:ext cx="52425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100" b="0" a:ea="Microsoft YaHei" a:latin="Microsoft YaHei">
                <a:solidFill>
                  <a:srgbClr val="CBD3D0"/>
                </a:solidFill>
                <a:latin typeface="Microsoft YaHei"/>
              </a:rPr>
              <a:t>一次真实工作过程，逐页拆开。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9" y="1767840"/>
            <a:ext cx="15849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a:ea="Microsoft YaHei" a:latin="Microsoft YaHei">
                <a:solidFill>
                  <a:srgbClr val="FBFAF6"/>
                </a:solidFill>
                <a:latin typeface="Microsoft YaHei"/>
              </a:rPr>
              <a:t>90 分钟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46719" y="2194560"/>
            <a:ext cx="1584960" cy="0"/>
          </a:xfrm>
          <a:prstGeom prst="line">
            <a:avLst/>
          </a:prstGeom>
          <a:ln w="28575">
            <a:solidFill>
              <a:srgbClr val="D7B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875519" y="1767840"/>
            <a:ext cx="15849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a:ea="Microsoft YaHei" a:latin="Microsoft YaHei">
                <a:solidFill>
                  <a:srgbClr val="FBFAF6"/>
                </a:solidFill>
                <a:latin typeface="Microsoft YaHei"/>
              </a:rPr>
              <a:t>34 页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875519" y="2194560"/>
            <a:ext cx="1584960" cy="0"/>
          </a:xfrm>
          <a:prstGeom prst="line">
            <a:avLst/>
          </a:prstGeom>
          <a:ln w="9525">
            <a:solidFill>
              <a:srgbClr val="536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46719" y="2865120"/>
            <a:ext cx="15849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a:ea="Microsoft YaHei" a:latin="Microsoft YaHei">
                <a:solidFill>
                  <a:srgbClr val="FBFAF6"/>
                </a:solidFill>
                <a:latin typeface="Microsoft YaHei"/>
              </a:rPr>
              <a:t>不跟做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46719" y="3291840"/>
            <a:ext cx="1584960" cy="0"/>
          </a:xfrm>
          <a:prstGeom prst="line">
            <a:avLst/>
          </a:prstGeom>
          <a:ln w="9525">
            <a:solidFill>
              <a:srgbClr val="536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875519" y="2865120"/>
            <a:ext cx="15849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a:ea="Microsoft YaHei" a:latin="Microsoft YaHei">
                <a:solidFill>
                  <a:srgbClr val="FBFAF6"/>
                </a:solidFill>
                <a:latin typeface="Microsoft YaHei"/>
              </a:rPr>
              <a:t>无考核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875519" y="3291840"/>
            <a:ext cx="1584960" cy="0"/>
          </a:xfrm>
          <a:prstGeom prst="line">
            <a:avLst/>
          </a:prstGeom>
          <a:ln w="9525">
            <a:solidFill>
              <a:srgbClr val="536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19" y="6278880"/>
            <a:ext cx="70713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25" b="0" a:ea="Microsoft YaHei" a:latin="Microsoft YaHei">
                <a:solidFill>
                  <a:srgbClr val="91A0A5"/>
                </a:solidFill>
                <a:latin typeface="Microsoft YaHei"/>
              </a:rPr>
              <a:t>现场不调用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概念与安全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学完能做什么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011680"/>
            <a:ext cx="24993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a:ea="Microsoft YaHei" a:latin="Aptos">
                <a:solidFill>
                  <a:srgbClr val="176B87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438400"/>
            <a:ext cx="24993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325" b="1" a:ea="Microsoft YaHei" a:latin="Microsoft YaHei">
                <a:solidFill>
                  <a:srgbClr val="111820"/>
                </a:solidFill>
                <a:latin typeface="Microsoft YaHei"/>
              </a:rPr>
              <a:t>判断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325" b="1" a:ea="Microsoft YaHei" a:latin="Microsoft YaHei">
                <a:solidFill>
                  <a:srgbClr val="111820"/>
                </a:solidFill>
                <a:latin typeface="Microsoft YaHei"/>
              </a:rPr>
              <a:t>AI 该做多少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19" y="2011680"/>
            <a:ext cx="24993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a:ea="Microsoft YaHei" a:latin="Aptos">
                <a:solidFill>
                  <a:srgbClr val="176B87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19" y="2438400"/>
            <a:ext cx="24993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325" b="1" a:ea="Microsoft YaHei" a:latin="Microsoft YaHei">
                <a:solidFill>
                  <a:srgbClr val="111820"/>
                </a:solidFill>
                <a:latin typeface="Microsoft YaHei"/>
              </a:rPr>
              <a:t>开一次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325" b="1" a:ea="Microsoft YaHei" a:latin="Microsoft YaHei">
                <a:solidFill>
                  <a:srgbClr val="111820"/>
                </a:solidFill>
                <a:latin typeface="Microsoft YaHei"/>
              </a:rPr>
              <a:t>受控会话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9" y="2011680"/>
            <a:ext cx="34137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a:ea="Microsoft YaHei" a:latin="Aptos">
                <a:solidFill>
                  <a:srgbClr val="176B87"/>
                </a:solidFill>
                <a:latin typeface="Apto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2438400"/>
            <a:ext cx="34137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325" b="1" a:ea="Microsoft YaHei" a:latin="Microsoft YaHei">
                <a:solidFill>
                  <a:srgbClr val="111820"/>
                </a:solidFill>
                <a:latin typeface="Microsoft YaHei"/>
              </a:rPr>
              <a:t>用四层证据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325" b="1" a:ea="Microsoft YaHei" a:latin="Microsoft YaHei">
                <a:solidFill>
                  <a:srgbClr val="111820"/>
                </a:solidFill>
                <a:latin typeface="Microsoft YaHei"/>
              </a:rPr>
              <a:t>确认做对了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19" y="42672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1519" y="4754880"/>
            <a:ext cx="45719" cy="42672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5359" y="4693920"/>
            <a:ext cx="79857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50" b="0" a:ea="Microsoft YaHei" a:latin="Microsoft YaHei">
                <a:solidFill>
                  <a:srgbClr val="111820"/>
                </a:solidFill>
                <a:latin typeface="Microsoft YaHei"/>
              </a:rPr>
              <a:t>现场不调用 Agent，全部内容为静态回放。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概念与安全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模型 / Agent / tool /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011680"/>
            <a:ext cx="15849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100" b="1" a:ea="Microsoft YaHei" a:latin="Microsoft YaHei">
                <a:solidFill>
                  <a:srgbClr val="111820"/>
                </a:solidFill>
                <a:latin typeface="Microsoft YaHei"/>
              </a:rPr>
              <a:t>模型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19" y="2148840"/>
            <a:ext cx="1584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89119" y="2011680"/>
            <a:ext cx="34137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111820"/>
                </a:solidFill>
                <a:latin typeface="Microsoft YaHei"/>
              </a:rPr>
              <a:t>推理引擎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804160"/>
            <a:ext cx="15849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100" b="1" a:ea="Microsoft YaHei" a:latin="Aptos">
                <a:solidFill>
                  <a:srgbClr val="111820"/>
                </a:solidFill>
                <a:latin typeface="Aptos"/>
              </a:rPr>
              <a:t>Agent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19" y="2941320"/>
            <a:ext cx="1584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89119" y="2804160"/>
            <a:ext cx="34137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111820"/>
                </a:solidFill>
                <a:latin typeface="Microsoft YaHei"/>
              </a:rPr>
              <a:t>执行主体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3596640"/>
            <a:ext cx="15849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100" b="1" a:ea="Microsoft YaHei" a:latin="Aptos">
                <a:solidFill>
                  <a:srgbClr val="111820"/>
                </a:solidFill>
                <a:latin typeface="Aptos"/>
              </a:rPr>
              <a:t>tool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60319" y="3733799"/>
            <a:ext cx="1584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389119" y="3596640"/>
            <a:ext cx="34137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111820"/>
                </a:solidFill>
                <a:latin typeface="Microsoft YaHei"/>
              </a:rPr>
              <a:t>可调用能力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4389120"/>
            <a:ext cx="15849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100" b="1" a:ea="Microsoft YaHei" a:latin="Aptos">
                <a:solidFill>
                  <a:srgbClr val="176B87"/>
                </a:solidFill>
                <a:latin typeface="Aptos"/>
              </a:rPr>
              <a:t>session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19" y="4526280"/>
            <a:ext cx="1584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89119" y="4389120"/>
            <a:ext cx="34137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111820"/>
                </a:solidFill>
                <a:latin typeface="Microsoft YaHei"/>
              </a:rPr>
              <a:t>一次工作容器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2011680"/>
            <a:ext cx="3413759" cy="3169920"/>
          </a:xfrm>
          <a:prstGeom prst="rect">
            <a:avLst/>
          </a:prstGeom>
          <a:solidFill>
            <a:srgbClr val="F8F4E8"/>
          </a:solidFill>
          <a:ln w="9525">
            <a:solidFill>
              <a:srgbClr val="C8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19" y="2011680"/>
            <a:ext cx="3413759" cy="7620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0559" y="2255520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Microsoft YaHei">
                <a:solidFill>
                  <a:srgbClr val="56616D"/>
                </a:solidFill>
                <a:latin typeface="Microsoft YaHei"/>
              </a:rPr>
              <a:t>SESSION 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0559" y="2682240"/>
            <a:ext cx="2926079" cy="2316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1" a:ea="Microsoft YaHei" a:latin="Microsoft YaHei">
                <a:solidFill>
                  <a:srgbClr val="111820"/>
                </a:solidFill>
                <a:latin typeface="Microsoft YaHei"/>
              </a:rPr>
              <a:t>工作目录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1" a:ea="Microsoft YaHei" a:latin="Microsoft YaHei">
                <a:solidFill>
                  <a:srgbClr val="111820"/>
                </a:solidFill>
                <a:latin typeface="Microsoft YaHei"/>
              </a:rPr>
              <a:t>上下文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1" a:ea="Microsoft YaHei" a:latin="Microsoft YaHei">
                <a:solidFill>
                  <a:srgbClr val="111820"/>
                </a:solidFill>
                <a:latin typeface="Microsoft YaHei"/>
              </a:rPr>
              <a:t>权限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9" y="5425440"/>
            <a:ext cx="34137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176B87"/>
                </a:solidFill>
                <a:latin typeface="Microsoft YaHei"/>
              </a:rPr>
              <a:t>会话是本课的操作单元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概念与安全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受控开发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011680"/>
            <a:ext cx="70713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100" b="1" a:ea="Microsoft YaHei" a:latin="Microsoft YaHei">
                <a:solidFill>
                  <a:srgbClr val="176B87"/>
                </a:solidFill>
                <a:latin typeface="Microsoft YaHei"/>
              </a:rPr>
              <a:t>人定义四件事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682240"/>
            <a:ext cx="15849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">
                <a:solidFill>
                  <a:srgbClr val="56616D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230880"/>
            <a:ext cx="15849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100" b="1" a:ea="Microsoft YaHei" a:latin="Microsoft YaHei">
                <a:solidFill>
                  <a:srgbClr val="111820"/>
                </a:solidFill>
                <a:latin typeface="Microsoft YaHei"/>
              </a:rPr>
              <a:t>目标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19" y="3840480"/>
            <a:ext cx="1584960" cy="0"/>
          </a:xfrm>
          <a:prstGeom prst="line">
            <a:avLst/>
          </a:prstGeom>
          <a:ln w="28575">
            <a:solidFill>
              <a:srgbClr val="176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560319" y="2682240"/>
            <a:ext cx="15849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">
                <a:solidFill>
                  <a:srgbClr val="56616D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19" y="3230880"/>
            <a:ext cx="15849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100" b="1" a:ea="Microsoft YaHei" a:latin="Microsoft YaHei">
                <a:solidFill>
                  <a:srgbClr val="111820"/>
                </a:solidFill>
                <a:latin typeface="Microsoft YaHei"/>
              </a:rPr>
              <a:t>约束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19" y="3840480"/>
            <a:ext cx="1584960" cy="0"/>
          </a:xfrm>
          <a:prstGeom prst="line">
            <a:avLst/>
          </a:prstGeom>
          <a:ln w="28575">
            <a:solidFill>
              <a:srgbClr val="176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89119" y="2682240"/>
            <a:ext cx="15849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">
                <a:solidFill>
                  <a:srgbClr val="56616D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3230880"/>
            <a:ext cx="15849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100" b="1" a:ea="Microsoft YaHei" a:latin="Microsoft YaHei">
                <a:solidFill>
                  <a:srgbClr val="111820"/>
                </a:solidFill>
                <a:latin typeface="Microsoft YaHei"/>
              </a:rPr>
              <a:t>决策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89119" y="3840480"/>
            <a:ext cx="1584960" cy="0"/>
          </a:xfrm>
          <a:prstGeom prst="line">
            <a:avLst/>
          </a:prstGeom>
          <a:ln w="28575">
            <a:solidFill>
              <a:srgbClr val="176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17919" y="2682240"/>
            <a:ext cx="15849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">
                <a:solidFill>
                  <a:srgbClr val="56616D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19" y="3230880"/>
            <a:ext cx="15849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100" b="1" a:ea="Microsoft YaHei" a:latin="Microsoft YaHei">
                <a:solidFill>
                  <a:srgbClr val="111820"/>
                </a:solidFill>
                <a:latin typeface="Microsoft YaHei"/>
              </a:rPr>
              <a:t>验收证据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17919" y="3840480"/>
            <a:ext cx="1584960" cy="0"/>
          </a:xfrm>
          <a:prstGeom prst="line">
            <a:avLst/>
          </a:prstGeom>
          <a:ln w="28575">
            <a:solidFill>
              <a:srgbClr val="176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046719" y="2011680"/>
            <a:ext cx="45719" cy="1524000"/>
          </a:xfrm>
          <a:prstGeom prst="rect">
            <a:avLst/>
          </a:prstGeom>
          <a:solidFill>
            <a:srgbClr val="4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0559" y="2011680"/>
            <a:ext cx="3169919" cy="975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50" b="1" a:ea="Microsoft YaHei" a:latin="Microsoft YaHei">
                <a:solidFill>
                  <a:srgbClr val="111820"/>
                </a:solidFill>
                <a:latin typeface="Microsoft YaHei"/>
              </a:rPr>
              <a:t>AI 辅助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50" b="1" a:ea="Microsoft YaHei" a:latin="Microsoft YaHei">
                <a:solidFill>
                  <a:srgbClr val="111820"/>
                </a:solidFill>
                <a:latin typeface="Microsoft YaHei"/>
              </a:rPr>
              <a:t>分析与实现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90559" y="3596640"/>
            <a:ext cx="316992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90559" y="3901440"/>
            <a:ext cx="3169919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B84A45"/>
                </a:solidFill>
                <a:latin typeface="Microsoft YaHei"/>
              </a:rPr>
              <a:t>不是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B84A45"/>
                </a:solidFill>
                <a:latin typeface="Microsoft YaHei"/>
              </a:rPr>
              <a:t>“凭感觉接受输出”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D7B35C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FBFAF6"/>
                </a:solidFill>
                <a:latin typeface="Microsoft YaHei"/>
              </a:rPr>
              <a:t>概念与安全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FBFAF6"/>
                </a:solidFill>
                <a:latin typeface="Microsoft YaHei"/>
              </a:rPr>
              <a:t>安全红线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950720"/>
            <a:ext cx="6705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">
                <a:solidFill>
                  <a:srgbClr val="D7B3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1889759"/>
            <a:ext cx="7985759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325" b="1" a:ea="Microsoft YaHei" a:latin="Microsoft YaHei">
                <a:solidFill>
                  <a:srgbClr val="FBFAF6"/>
                </a:solidFill>
                <a:latin typeface="Microsoft YaHei"/>
              </a:rPr>
              <a:t>不上传敏感信息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45919" y="2438400"/>
            <a:ext cx="9814560" cy="0"/>
          </a:xfrm>
          <a:prstGeom prst="line">
            <a:avLst/>
          </a:prstGeom>
          <a:ln w="9525">
            <a:solidFill>
              <a:srgbClr val="3C49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19" y="2804160"/>
            <a:ext cx="6705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">
                <a:solidFill>
                  <a:srgbClr val="D7B35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2743200"/>
            <a:ext cx="7985759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325" b="1" a:ea="Microsoft YaHei" a:latin="Microsoft YaHei">
                <a:solidFill>
                  <a:srgbClr val="FBFAF6"/>
                </a:solidFill>
                <a:latin typeface="Microsoft YaHei"/>
              </a:rPr>
              <a:t>不展示密钥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45919" y="3291840"/>
            <a:ext cx="9814560" cy="0"/>
          </a:xfrm>
          <a:prstGeom prst="line">
            <a:avLst/>
          </a:prstGeom>
          <a:ln w="9525">
            <a:solidFill>
              <a:srgbClr val="3C49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19" y="3657600"/>
            <a:ext cx="6705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">
                <a:solidFill>
                  <a:srgbClr val="D7B35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3596640"/>
            <a:ext cx="7985759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325" b="1" a:ea="Microsoft YaHei" a:latin="Microsoft YaHei">
                <a:solidFill>
                  <a:srgbClr val="FBFAF6"/>
                </a:solidFill>
                <a:latin typeface="Microsoft YaHei"/>
              </a:rPr>
              <a:t>AI 无生产权限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45919" y="4145280"/>
            <a:ext cx="9814560" cy="0"/>
          </a:xfrm>
          <a:prstGeom prst="line">
            <a:avLst/>
          </a:prstGeom>
          <a:ln w="9525">
            <a:solidFill>
              <a:srgbClr val="3C49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19" y="4511040"/>
            <a:ext cx="6705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">
                <a:solidFill>
                  <a:srgbClr val="D7B35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4450080"/>
            <a:ext cx="7985759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325" b="1" a:ea="Microsoft YaHei" a:latin="Microsoft YaHei">
                <a:solidFill>
                  <a:srgbClr val="FBFAF6"/>
                </a:solidFill>
                <a:latin typeface="Microsoft YaHei"/>
              </a:rPr>
              <a:t>高风险操作人工确认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45919" y="4998720"/>
            <a:ext cx="9814560" cy="0"/>
          </a:xfrm>
          <a:prstGeom prst="line">
            <a:avLst/>
          </a:prstGeom>
          <a:ln w="9525">
            <a:solidFill>
              <a:srgbClr val="3C49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46719" y="5608320"/>
            <a:ext cx="34137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D9C982"/>
                </a:solidFill>
                <a:latin typeface="Microsoft YaHei"/>
              </a:rPr>
              <a:t>不确定，就停下确认。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3341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91A0A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第一次会话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开始前：仓库与 Git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19" y="2011680"/>
            <a:ext cx="6156959" cy="2987040"/>
          </a:xfrm>
          <a:prstGeom prst="roundRect">
            <a:avLst/>
          </a:prstGeom>
          <a:solidFill>
            <a:srgbClr val="17212A"/>
          </a:solidFill>
          <a:ln w="9525">
            <a:solidFill>
              <a:srgbClr val="2B3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19" y="2011680"/>
            <a:ext cx="6156959" cy="335280"/>
          </a:xfrm>
          <a:prstGeom prst="rect">
            <a:avLst/>
          </a:prstGeom>
          <a:solidFill>
            <a:srgbClr val="222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399" y="2072640"/>
            <a:ext cx="57911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25" b="0" a:ea="Microsoft YaHei" a:latin="Aptos">
                <a:solidFill>
                  <a:srgbClr val="9BAAA5"/>
                </a:solidFill>
                <a:latin typeface="Aptos"/>
              </a:rPr>
              <a:t>repository — clean starting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79" y="2560320"/>
            <a:ext cx="57302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E8EEE9"/>
                </a:solidFill>
                <a:latin typeface="Aptos Mono"/>
              </a:rPr>
              <a:t>$ git status --short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879" y="2804160"/>
            <a:ext cx="57302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9BAAA5"/>
                </a:solidFill>
                <a:latin typeface="Aptos Mono"/>
              </a:rPr>
              <a:t># no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879" y="3108960"/>
            <a:ext cx="57302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E8EEE9"/>
                </a:solidFill>
                <a:latin typeface="Aptos Mono"/>
              </a:rPr>
              <a:t>$ git branch --show-current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879" y="3413760"/>
            <a:ext cx="57302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B9D7C0"/>
                </a:solidFill>
                <a:latin typeface="Aptos Mono"/>
              </a:rPr>
              <a:t>training/vibe-coding-reminder-window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2072640"/>
            <a:ext cx="27431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Microsoft YaHei">
                <a:solidFill>
                  <a:srgbClr val="176B87"/>
                </a:solidFill>
                <a:latin typeface="Microsoft YaHei"/>
              </a:rPr>
              <a:t>开始前只确认两件事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560320"/>
            <a:ext cx="3413759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175" b="1" a:ea="Microsoft YaHei" a:latin="Microsoft YaHei">
                <a:solidFill>
                  <a:srgbClr val="111820"/>
                </a:solidFill>
                <a:latin typeface="Microsoft YaHei"/>
              </a:rPr>
              <a:t>仓库干净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3291840"/>
            <a:ext cx="3413759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175" b="1" a:ea="Microsoft YaHei" a:latin="Microsoft YaHei">
                <a:solidFill>
                  <a:srgbClr val="111820"/>
                </a:solidFill>
                <a:latin typeface="Microsoft YaHei"/>
              </a:rPr>
              <a:t>分支明确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46719" y="4023360"/>
            <a:ext cx="34137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46719" y="4328160"/>
            <a:ext cx="3413759" cy="85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56616D"/>
                </a:solidFill>
                <a:latin typeface="Microsoft YaHei"/>
              </a:rPr>
              <a:t>干净、可回退的起点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56616D"/>
                </a:solidFill>
                <a:latin typeface="Microsoft YaHei"/>
              </a:rPr>
              <a:t>才值得信任。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第一次会话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OpenCode 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950720"/>
            <a:ext cx="27431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Microsoft YaHei">
                <a:solidFill>
                  <a:srgbClr val="176B87"/>
                </a:solidFill>
                <a:latin typeface="Microsoft YaHei"/>
              </a:rPr>
              <a:t>一次可检查的编码会话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377440"/>
            <a:ext cx="4328159" cy="85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50" b="1" a:ea="Microsoft YaHei" a:latin="Microsoft YaHei">
                <a:solidFill>
                  <a:srgbClr val="111820"/>
                </a:solidFill>
                <a:latin typeface="Microsoft YaHei"/>
              </a:rPr>
              <a:t>模型 + 工具 + 权限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413760"/>
            <a:ext cx="43281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56616D"/>
                </a:solidFill>
                <a:latin typeface="Microsoft YaHei"/>
              </a:rPr>
              <a:t>价值不在打字快，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56616D"/>
                </a:solidFill>
                <a:latin typeface="Microsoft YaHei"/>
              </a:rPr>
              <a:t>而在每一步都能检查。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19" y="1950720"/>
            <a:ext cx="5242559" cy="3474720"/>
          </a:xfrm>
          <a:prstGeom prst="rect">
            <a:avLst/>
          </a:prstGeom>
          <a:solidFill>
            <a:srgbClr val="E7E9E5"/>
          </a:solidFill>
          <a:ln w="9525">
            <a:solidFill>
              <a:srgbClr val="C8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799" y="2133600"/>
            <a:ext cx="48767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75" b="1" a:ea="Microsoft YaHei" a:latin="Aptos">
                <a:solidFill>
                  <a:srgbClr val="176B87"/>
                </a:solidFill>
                <a:latin typeface="Aptos"/>
              </a:rPr>
              <a:t>OpenCode · opencode.ai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799" y="2560320"/>
            <a:ext cx="4876799" cy="1097280"/>
          </a:xfrm>
          <a:prstGeom prst="rect">
            <a:avLst/>
          </a:prstGeom>
          <a:solidFill>
            <a:srgbClr val="FBFAF6"/>
          </a:solidFill>
          <a:ln w="9525">
            <a:solidFill>
              <a:srgbClr val="C8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2682240"/>
            <a:ext cx="182879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a:ea="Microsoft YaHei" a:latin="Microsoft YaHei">
                <a:solidFill>
                  <a:srgbClr val="111820"/>
                </a:solidFill>
                <a:latin typeface="Microsoft YaHei"/>
              </a:rPr>
              <a:t>对话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799" y="3779519"/>
            <a:ext cx="4876799" cy="731520"/>
          </a:xfrm>
          <a:prstGeom prst="rect">
            <a:avLst/>
          </a:prstGeom>
          <a:solidFill>
            <a:srgbClr val="FBFAF6"/>
          </a:solidFill>
          <a:ln w="9525">
            <a:solidFill>
              <a:srgbClr val="C8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3901440"/>
            <a:ext cx="182879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a:ea="Microsoft YaHei" a:latin="Microsoft YaHei">
                <a:solidFill>
                  <a:srgbClr val="111820"/>
                </a:solidFill>
                <a:latin typeface="Microsoft YaHei"/>
              </a:rPr>
              <a:t>文件差异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799" y="4632960"/>
            <a:ext cx="4876799" cy="548640"/>
          </a:xfrm>
          <a:prstGeom prst="rect">
            <a:avLst/>
          </a:prstGeom>
          <a:solidFill>
            <a:srgbClr val="FBFAF6"/>
          </a:solidFill>
          <a:ln w="9525">
            <a:solidFill>
              <a:srgbClr val="C8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4754880"/>
            <a:ext cx="182879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a:ea="Microsoft YaHei" a:latin="Microsoft YaHei">
                <a:solidFill>
                  <a:srgbClr val="111820"/>
                </a:solidFill>
                <a:latin typeface="Microsoft YaHei"/>
              </a:rPr>
              <a:t>终端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第一次会话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首次会话·步骤 1：启动与状态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19" y="548640"/>
            <a:ext cx="249935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">
                <a:solidFill>
                  <a:srgbClr val="176B87"/>
                </a:solidFill>
                <a:latin typeface="Aptos"/>
              </a:rPr>
              <a:t>STEP 01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19" y="792480"/>
            <a:ext cx="249935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静态会话回放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1645920"/>
            <a:ext cx="27431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Microsoft YaHei">
                <a:solidFill>
                  <a:srgbClr val="176B87"/>
                </a:solidFill>
                <a:latin typeface="Microsoft YaHei"/>
              </a:rPr>
              <a:t>先看状态，再看任务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19" y="2011680"/>
            <a:ext cx="7071359" cy="3535680"/>
          </a:xfrm>
          <a:prstGeom prst="roundRect">
            <a:avLst/>
          </a:prstGeom>
          <a:solidFill>
            <a:srgbClr val="17212A"/>
          </a:solidFill>
          <a:ln w="9525">
            <a:solidFill>
              <a:srgbClr val="2B3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19" y="2011680"/>
            <a:ext cx="7071359" cy="335280"/>
          </a:xfrm>
          <a:prstGeom prst="rect">
            <a:avLst/>
          </a:prstGeom>
          <a:solidFill>
            <a:srgbClr val="222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399" y="2072640"/>
            <a:ext cx="67055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25" b="0" a:ea="Microsoft YaHei" a:latin="Aptos">
                <a:solidFill>
                  <a:srgbClr val="9BAAA5"/>
                </a:solidFill>
                <a:latin typeface="Aptos"/>
              </a:rPr>
              <a:t>session status — static replay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879" y="2560320"/>
            <a:ext cx="66446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E8EEE9"/>
                </a:solidFill>
                <a:latin typeface="Aptos Mono"/>
              </a:rPr>
              <a:t>model       selected / visible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79" y="2804160"/>
            <a:ext cx="66446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E8EEE9"/>
                </a:solidFill>
                <a:latin typeface="Aptos Mono"/>
              </a:rPr>
              <a:t>workspace   /project/repository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879" y="3108960"/>
            <a:ext cx="66446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E8EEE9"/>
                </a:solidFill>
                <a:latin typeface="Aptos Mono"/>
              </a:rPr>
              <a:t>tools       read · search · terminal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879" y="3413760"/>
            <a:ext cx="66446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E1C980"/>
                </a:solidFill>
                <a:latin typeface="Aptos Mono"/>
              </a:rPr>
              <a:t>permissions  allow / ask by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19" y="2133600"/>
            <a:ext cx="27431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Microsoft YaHei">
                <a:solidFill>
                  <a:srgbClr val="176B87"/>
                </a:solidFill>
                <a:latin typeface="Microsoft YaHei"/>
              </a:rPr>
              <a:t>状态回答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2560320"/>
            <a:ext cx="2499359" cy="1158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25" b="1" a:ea="Microsoft YaHei" a:latin="Microsoft YaHei">
                <a:solidFill>
                  <a:srgbClr val="111820"/>
                </a:solidFill>
                <a:latin typeface="Microsoft YaHei"/>
              </a:rPr>
              <a:t>我在哪？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25" b="1" a:ea="Microsoft YaHei" a:latin="Microsoft YaHei">
                <a:solidFill>
                  <a:srgbClr val="111820"/>
                </a:solidFill>
                <a:latin typeface="Microsoft YaHei"/>
              </a:rPr>
              <a:t>能看什么？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25" b="1" a:ea="Microsoft YaHei" a:latin="Microsoft YaHei">
                <a:solidFill>
                  <a:srgbClr val="111820"/>
                </a:solidFill>
                <a:latin typeface="Microsoft YaHei"/>
              </a:rPr>
              <a:t>能做什么？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61119" y="4145280"/>
            <a:ext cx="24993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961119" y="4450080"/>
            <a:ext cx="24993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176B87"/>
                </a:solidFill>
                <a:latin typeface="Microsoft YaHei"/>
              </a:rPr>
              <a:t>状态是会话的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176B87"/>
                </a:solidFill>
                <a:latin typeface="Microsoft YaHei"/>
              </a:rPr>
              <a:t>边界说明书。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第一次会话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首次会话·步骤 2：只读理解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19" y="548640"/>
            <a:ext cx="249935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">
                <a:solidFill>
                  <a:srgbClr val="176B87"/>
                </a:solidFill>
                <a:latin typeface="Aptos"/>
              </a:rPr>
              <a:t>STEP 02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19" y="792480"/>
            <a:ext cx="249935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静态会话回放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1645920"/>
            <a:ext cx="27431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Microsoft YaHei">
                <a:solidFill>
                  <a:srgbClr val="176B87"/>
                </a:solidFill>
                <a:latin typeface="Microsoft YaHei"/>
              </a:rPr>
              <a:t>先验证理解，再谈修改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19" y="2011680"/>
            <a:ext cx="6156959" cy="3474720"/>
          </a:xfrm>
          <a:prstGeom prst="rect">
            <a:avLst/>
          </a:prstGeom>
          <a:solidFill>
            <a:srgbClr val="FBFAF6"/>
          </a:solidFill>
          <a:ln w="9525">
            <a:solidFill>
              <a:srgbClr val="C8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5359" y="2255520"/>
            <a:ext cx="566927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Microsoft YaHei">
                <a:solidFill>
                  <a:srgbClr val="176B87"/>
                </a:solidFill>
                <a:latin typeface="Microsoft YaHei"/>
              </a:rPr>
              <a:t>只读请求 · 静态回放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59" y="2682240"/>
            <a:ext cx="5669279" cy="85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50" b="1" a:ea="Microsoft YaHei" a:latin="Microsoft YaHei">
                <a:solidFill>
                  <a:srgbClr val="111820"/>
                </a:solidFill>
                <a:latin typeface="Microsoft YaHei"/>
              </a:rPr>
              <a:t>读取仓库，回答：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50" b="1" a:ea="Microsoft YaHei" a:latin="Microsoft YaHei">
                <a:solidFill>
                  <a:srgbClr val="111820"/>
                </a:solidFill>
                <a:latin typeface="Microsoft YaHei"/>
              </a:rPr>
              <a:t>项目是什么？如何组织？如何构建？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75359" y="3840480"/>
            <a:ext cx="591312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75359" y="4145280"/>
            <a:ext cx="5669279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B84A45"/>
                </a:solidFill>
                <a:latin typeface="Microsoft YaHei"/>
              </a:rPr>
              <a:t>限制：只读，不修改任何文件。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2194560"/>
            <a:ext cx="45719" cy="170688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0559" y="2194560"/>
            <a:ext cx="3169919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400" b="1" a:ea="Microsoft YaHei" a:latin="Microsoft YaHei">
                <a:solidFill>
                  <a:srgbClr val="111820"/>
                </a:solidFill>
                <a:latin typeface="Microsoft YaHei"/>
              </a:rPr>
              <a:t>理解错了，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400" b="1" a:ea="Microsoft YaHei" a:latin="Microsoft YaHei">
                <a:solidFill>
                  <a:srgbClr val="111820"/>
                </a:solidFill>
                <a:latin typeface="Microsoft YaHei"/>
              </a:rPr>
              <a:t>后面一切免谈。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559" y="4145280"/>
            <a:ext cx="31699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75" b="0" a:ea="Microsoft YaHei" a:latin="Microsoft YaHei">
                <a:solidFill>
                  <a:srgbClr val="56616D"/>
                </a:solidFill>
                <a:latin typeface="Microsoft YaHei"/>
              </a:rPr>
              <a:t>回答先与仓库事实核对。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第一次会话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首次会话·步骤 3：模式与权限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19" y="548640"/>
            <a:ext cx="249935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">
                <a:solidFill>
                  <a:srgbClr val="176B87"/>
                </a:solidFill>
                <a:latin typeface="Aptos"/>
              </a:rPr>
              <a:t>STEP 03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19" y="792480"/>
            <a:ext cx="249935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静态会话回放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1645920"/>
            <a:ext cx="27431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Microsoft YaHei">
                <a:solidFill>
                  <a:srgbClr val="176B87"/>
                </a:solidFill>
                <a:latin typeface="Microsoft YaHei"/>
              </a:rPr>
              <a:t>模式与权限：allow / ask / deny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719" y="2103120"/>
            <a:ext cx="6156959" cy="3413760"/>
          </a:xfrm>
          <a:prstGeom prst="rect">
            <a:avLst/>
          </a:prstGeom>
          <a:solidFill>
            <a:srgbClr val="E5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19" y="2011680"/>
            <a:ext cx="6156959" cy="3413760"/>
          </a:xfrm>
          <a:prstGeom prst="rect">
            <a:avLst/>
          </a:prstGeom>
          <a:solidFill>
            <a:srgbClr val="FBFAF6"/>
          </a:solidFill>
          <a:ln w="9525">
            <a:solidFill>
              <a:srgbClr val="C8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359" y="2194560"/>
            <a:ext cx="56692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25" b="0" a:ea="Microsoft YaHei" a:latin="Aptos Mono">
                <a:solidFill>
                  <a:srgbClr val="56616D"/>
                </a:solidFill>
                <a:latin typeface="Aptos Mono"/>
              </a:rPr>
              <a:t>session / agent + permission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75359" y="2468880"/>
            <a:ext cx="566928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75359" y="2682240"/>
            <a:ext cx="5669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75" b="1" a:ea="Microsoft YaHei" a:latin="Microsoft YaHei">
                <a:solidFill>
                  <a:srgbClr val="111820"/>
                </a:solidFill>
                <a:latin typeface="Microsoft YaHei"/>
              </a:rPr>
              <a:t>本回放显式切到 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5359" y="3230880"/>
            <a:ext cx="60959" cy="609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8239" y="3169920"/>
            <a:ext cx="54863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a:ea="Microsoft YaHei" a:latin="Microsoft YaHei">
                <a:solidFill>
                  <a:srgbClr val="111820"/>
                </a:solidFill>
                <a:latin typeface="Microsoft YaHei"/>
              </a:rPr>
              <a:t>默认主 Agent：Build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5359" y="3779519"/>
            <a:ext cx="60959" cy="609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8239" y="3718560"/>
            <a:ext cx="54863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a:ea="Microsoft YaHei" a:latin="Microsoft YaHei">
                <a:solidFill>
                  <a:srgbClr val="111820"/>
                </a:solidFill>
                <a:latin typeface="Microsoft YaHei"/>
              </a:rPr>
              <a:t>默认多数 permission：allow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5359" y="4328160"/>
            <a:ext cx="60959" cy="609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8239" y="4267200"/>
            <a:ext cx="54863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a:ea="Microsoft YaHei" a:latin="Microsoft YaHei">
                <a:solidFill>
                  <a:srgbClr val="111820"/>
                </a:solidFill>
                <a:latin typeface="Microsoft YaHei"/>
              </a:rPr>
              <a:t>Plan 默认编辑 / bash：ask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9" y="2316480"/>
            <a:ext cx="3413759" cy="1828800"/>
          </a:xfrm>
          <a:prstGeom prst="rect">
            <a:avLst/>
          </a:prstGeom>
          <a:solidFill>
            <a:srgbClr val="F7EDE8"/>
          </a:solidFill>
          <a:ln w="19050">
            <a:solidFill>
              <a:srgbClr val="B84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0559" y="2560320"/>
            <a:ext cx="292607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B84A45"/>
                </a:solidFill>
                <a:latin typeface="Aptos"/>
              </a:rPr>
              <a:t>PERMISSION 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559" y="2987040"/>
            <a:ext cx="2926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50" b="1" a:ea="Microsoft YaHei" a:latin="Microsoft YaHei">
                <a:solidFill>
                  <a:srgbClr val="111820"/>
                </a:solidFill>
                <a:latin typeface="Microsoft YaHei"/>
              </a:rPr>
              <a:t>这次操作命中 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0559" y="3718560"/>
            <a:ext cx="292607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a:ea="Microsoft YaHei" a:latin="Microsoft YaHei">
                <a:solidFill>
                  <a:srgbClr val="B84A45"/>
                </a:solidFill>
                <a:latin typeface="Microsoft YaHei"/>
              </a:rPr>
              <a:t>看清请求，再批准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9" y="4572000"/>
            <a:ext cx="34137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a:ea="Microsoft YaHei" a:latin="Microsoft YaHei">
                <a:solidFill>
                  <a:srgbClr val="56616D"/>
                </a:solidFill>
                <a:latin typeface="Microsoft YaHei"/>
              </a:rPr>
              <a:t>allow 直接放行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a:ea="Microsoft YaHei" a:latin="Microsoft YaHei">
                <a:solidFill>
                  <a:srgbClr val="56616D"/>
                </a:solidFill>
                <a:latin typeface="Microsoft YaHei"/>
              </a:rPr>
              <a:t>ask 请求批准 · deny 直接拒绝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第一次会话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首次会话·步骤 4：diff / undo / 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19" y="548640"/>
            <a:ext cx="249935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">
                <a:solidFill>
                  <a:srgbClr val="176B87"/>
                </a:solidFill>
                <a:latin typeface="Aptos"/>
              </a:rPr>
              <a:t>STEP 04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19" y="792480"/>
            <a:ext cx="249935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静态会话回放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1645920"/>
            <a:ext cx="27431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Microsoft YaHei">
                <a:solidFill>
                  <a:srgbClr val="176B87"/>
                </a:solidFill>
                <a:latin typeface="Microsoft YaHei"/>
              </a:rPr>
              <a:t>改完以后：把关、回退、验证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133600"/>
            <a:ext cx="3413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a:ea="Microsoft YaHei" a:latin="Aptos">
                <a:solidFill>
                  <a:srgbClr val="176B87"/>
                </a:solidFill>
                <a:latin typeface="Aptos"/>
              </a:rPr>
              <a:t>DIFF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19" y="2499360"/>
            <a:ext cx="3413760" cy="0"/>
          </a:xfrm>
          <a:prstGeom prst="line">
            <a:avLst/>
          </a:prstGeom>
          <a:ln w="28575">
            <a:solidFill>
              <a:srgbClr val="176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19" y="2804160"/>
            <a:ext cx="3413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0" a:ea="Microsoft YaHei" a:latin="Microsoft YaHei">
                <a:solidFill>
                  <a:srgbClr val="111820"/>
                </a:solidFill>
                <a:latin typeface="Microsoft YaHei"/>
              </a:rPr>
              <a:t>范围有没有夹带？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3474720"/>
            <a:ext cx="3413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0" a:ea="Microsoft YaHei" a:latin="Microsoft YaHei">
                <a:solidFill>
                  <a:srgbClr val="111820"/>
                </a:solidFill>
                <a:latin typeface="Microsoft YaHei"/>
              </a:rPr>
              <a:t>+ intended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4145280"/>
            <a:ext cx="3413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0" a:ea="Microsoft YaHei" a:latin="Microsoft YaHei">
                <a:solidFill>
                  <a:srgbClr val="111820"/>
                </a:solidFill>
                <a:latin typeface="Microsoft YaHei"/>
              </a:rPr>
              <a:t>- unrelated edit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2133600"/>
            <a:ext cx="3413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a:ea="Microsoft YaHei" a:latin="Aptos">
                <a:solidFill>
                  <a:srgbClr val="D7B35C"/>
                </a:solidFill>
                <a:latin typeface="Aptos"/>
              </a:rPr>
              <a:t>/UNDO · /REDO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89119" y="2499360"/>
            <a:ext cx="3413760" cy="0"/>
          </a:xfrm>
          <a:prstGeom prst="line">
            <a:avLst/>
          </a:prstGeom>
          <a:ln w="28575">
            <a:solidFill>
              <a:srgbClr val="D7B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389119" y="2804160"/>
            <a:ext cx="3413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0" a:ea="Microsoft YaHei" a:latin="Microsoft YaHei">
                <a:solidFill>
                  <a:srgbClr val="111820"/>
                </a:solidFill>
                <a:latin typeface="Microsoft YaHei"/>
              </a:rPr>
              <a:t>撤销上一条用户消息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19" y="3474720"/>
            <a:ext cx="3413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0" a:ea="Microsoft YaHei" a:latin="Microsoft YaHei">
                <a:solidFill>
                  <a:srgbClr val="111820"/>
                </a:solidFill>
                <a:latin typeface="Microsoft YaHei"/>
              </a:rPr>
              <a:t>含后续回复与改动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19" y="4145280"/>
            <a:ext cx="3413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0" a:ea="Microsoft YaHei" a:latin="Microsoft YaHei">
                <a:solidFill>
                  <a:srgbClr val="111820"/>
                </a:solidFill>
                <a:latin typeface="Microsoft YaHei"/>
              </a:rPr>
              <a:t>可连续撤销；redo 恢复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2133600"/>
            <a:ext cx="3413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a:ea="Microsoft YaHei" a:latin="Aptos">
                <a:solidFill>
                  <a:srgbClr val="4F7A57"/>
                </a:solidFill>
                <a:latin typeface="Aptos"/>
              </a:rPr>
              <a:t>VERIFY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046719" y="2499360"/>
            <a:ext cx="3413760" cy="0"/>
          </a:xfrm>
          <a:prstGeom prst="line">
            <a:avLst/>
          </a:prstGeom>
          <a:ln w="28575">
            <a:solidFill>
              <a:srgbClr val="4F7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046719" y="2804160"/>
            <a:ext cx="3413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0" a:ea="Microsoft YaHei" a:latin="Microsoft YaHei">
                <a:solidFill>
                  <a:srgbClr val="111820"/>
                </a:solidFill>
                <a:latin typeface="Microsoft YaHei"/>
              </a:rPr>
              <a:t>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9" y="3474720"/>
            <a:ext cx="3413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0" a:ea="Microsoft YaHei" a:latin="Microsoft YaHei">
                <a:solidFill>
                  <a:srgbClr val="111820"/>
                </a:solidFill>
                <a:latin typeface="Microsoft YaHei"/>
              </a:rPr>
              <a:t>typecheck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4145280"/>
            <a:ext cx="3413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0" a:ea="Microsoft YaHei" a:latin="Microsoft YaHei">
                <a:solidFill>
                  <a:srgbClr val="111820"/>
                </a:solidFill>
                <a:latin typeface="Microsoft YaHei"/>
              </a:rPr>
              <a:t>build / E2E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" y="5242560"/>
            <a:ext cx="10728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111820"/>
                </a:solidFill>
                <a:latin typeface="Microsoft YaHei"/>
              </a:rPr>
              <a:t>diff 把关 · /undo 可连续回退 · /redo 恢复 · 跨会话 / 版本点用 Git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D7B35C"/>
                </a:solidFill>
                <a:latin typeface="Apto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FBFAF6"/>
                </a:solidFill>
                <a:latin typeface="Microsoft YaHei"/>
              </a:rPr>
              <a:t>工具教程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FBFAF6"/>
                </a:solidFill>
                <a:latin typeface="Microsoft YaHei"/>
              </a:rPr>
              <a:t>工具选择地图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011680"/>
            <a:ext cx="6156959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50" b="1" a:ea="Microsoft YaHei" a:latin="Microsoft YaHei">
                <a:solidFill>
                  <a:srgbClr val="FBFAF6"/>
                </a:solidFill>
                <a:latin typeface="Microsoft YaHei"/>
              </a:rPr>
              <a:t>工具不是一张品牌清单，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50" b="1" a:ea="Microsoft YaHei" a:latin="Microsoft YaHei">
                <a:solidFill>
                  <a:srgbClr val="FBFAF6"/>
                </a:solidFill>
                <a:latin typeface="Microsoft YaHei"/>
              </a:rPr>
              <a:t>而是四种不同职责。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413760"/>
            <a:ext cx="24993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Aptos">
                <a:solidFill>
                  <a:srgbClr val="FBFAF6"/>
                </a:solidFill>
                <a:latin typeface="Aptos"/>
              </a:rPr>
              <a:t>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19" y="3413760"/>
            <a:ext cx="43281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75" b="0" a:ea="Microsoft YaHei" a:latin="Microsoft YaHei">
                <a:solidFill>
                  <a:srgbClr val="BAC4C5"/>
                </a:solidFill>
                <a:latin typeface="Microsoft YaHei"/>
              </a:rPr>
              <a:t>固化工作流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962399"/>
            <a:ext cx="24993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FBFAF6"/>
                </a:solidFill>
                <a:latin typeface="Microsoft YaHei"/>
              </a:rPr>
              <a:t>编排插件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19" y="3962399"/>
            <a:ext cx="43281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75" b="0" a:ea="Microsoft YaHei" a:latin="Microsoft YaHei">
                <a:solidFill>
                  <a:srgbClr val="BAC4C5"/>
                </a:solidFill>
                <a:latin typeface="Microsoft YaHei"/>
              </a:rPr>
              <a:t>复杂任务分角色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4511040"/>
            <a:ext cx="24993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Aptos">
                <a:solidFill>
                  <a:srgbClr val="FBFAF6"/>
                </a:solidFill>
                <a:latin typeface="Aptos"/>
              </a:rPr>
              <a:t>OpenSpec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19" y="4511040"/>
            <a:ext cx="43281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75" b="0" a:ea="Microsoft YaHei" a:latin="Microsoft YaHei">
                <a:solidFill>
                  <a:srgbClr val="BAC4C5"/>
                </a:solidFill>
                <a:latin typeface="Microsoft YaHei"/>
              </a:rPr>
              <a:t>组织规范与证据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5059680"/>
            <a:ext cx="24993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Aptos">
                <a:solidFill>
                  <a:srgbClr val="D7B35C"/>
                </a:solidFill>
                <a:latin typeface="Aptos"/>
              </a:rPr>
              <a:t>MCP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5059680"/>
            <a:ext cx="43281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75" b="0" a:ea="Microsoft YaHei" a:latin="Microsoft YaHei">
                <a:solidFill>
                  <a:srgbClr val="BAC4C5"/>
                </a:solidFill>
                <a:latin typeface="Microsoft YaHei"/>
              </a:rPr>
              <a:t>只处理外部连接边界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19" y="4572000"/>
            <a:ext cx="24993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425" b="1" a:ea="Microsoft YaHei" a:latin="Microsoft YaHei">
                <a:solidFill>
                  <a:srgbClr val="D9C982"/>
                </a:solidFill>
                <a:latin typeface="Microsoft YaHei"/>
              </a:rPr>
              <a:t>MCP：本项目无配置</a:t>
            </a:r>
          </a:p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425" b="1" a:ea="Microsoft YaHei" a:latin="Microsoft YaHei">
                <a:solidFill>
                  <a:srgbClr val="D9C982"/>
                </a:solidFill>
                <a:latin typeface="Microsoft YaHei"/>
              </a:rPr>
              <a:t>本课不演示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3341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91A0A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工具教程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skills：标准 vs 技能包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5999" y="1950720"/>
            <a:ext cx="0" cy="384048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19" y="2011680"/>
            <a:ext cx="27431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Microsoft YaHei">
                <a:solidFill>
                  <a:srgbClr val="176B87"/>
                </a:solidFill>
                <a:latin typeface="Microsoft YaHei"/>
              </a:rPr>
              <a:t>开放标准 / 生态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19" y="2011680"/>
            <a:ext cx="27431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Microsoft YaHei">
                <a:solidFill>
                  <a:srgbClr val="B84A45"/>
                </a:solidFill>
                <a:latin typeface="Microsoft YaHei"/>
              </a:rPr>
              <a:t>具体技能包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560320"/>
            <a:ext cx="43281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111820"/>
                </a:solidFill>
                <a:latin typeface="Microsoft YaHei"/>
              </a:rPr>
              <a:t>Agent Skills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19" y="3108960"/>
            <a:ext cx="43281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19" y="3413760"/>
            <a:ext cx="43281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111820"/>
                </a:solidFill>
                <a:latin typeface="Microsoft YaHei"/>
              </a:rPr>
              <a:t>skills.sh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19" y="3962399"/>
            <a:ext cx="43281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19" y="4267200"/>
            <a:ext cx="43281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111820"/>
                </a:solidFill>
                <a:latin typeface="Microsoft YaHei"/>
              </a:rPr>
              <a:t>定义如何写与分发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19" y="4815840"/>
            <a:ext cx="43281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7919" y="2560320"/>
            <a:ext cx="43281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111820"/>
                </a:solidFill>
                <a:latin typeface="Microsoft YaHei"/>
              </a:rPr>
              <a:t>mattpocock/skills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17919" y="3108960"/>
            <a:ext cx="43281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17919" y="3413760"/>
            <a:ext cx="43281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111820"/>
                </a:solidFill>
                <a:latin typeface="Microsoft YaHei"/>
              </a:rPr>
              <a:t>个人维护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17919" y="3962399"/>
            <a:ext cx="43281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17919" y="4267200"/>
            <a:ext cx="43281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111820"/>
                </a:solidFill>
                <a:latin typeface="Microsoft YaHei"/>
              </a:rPr>
              <a:t>不是官方标准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17919" y="4815840"/>
            <a:ext cx="43281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19" y="5486400"/>
            <a:ext cx="107289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a:ea="Microsoft YaHei" a:latin="Microsoft YaHei">
                <a:solidFill>
                  <a:srgbClr val="111820"/>
                </a:solidFill>
                <a:latin typeface="Microsoft YaHei"/>
              </a:rPr>
              <a:t>标准定义形式；技能包提供具体内容。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工具教程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mattpocock/skills 是什么、为什么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950720"/>
            <a:ext cx="27431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Microsoft YaHei">
                <a:solidFill>
                  <a:srgbClr val="176B87"/>
                </a:solidFill>
                <a:latin typeface="Microsoft YaHei"/>
              </a:rPr>
              <a:t>个人技能集合 · 可复用工作流</a:t>
            </a:r>
          </a:p>
        </p:txBody>
      </p:sp>
      <p:sp>
        <p:nvSpPr>
          <p:cNvPr id="7" name="Rectangle 6"/>
          <p:cNvSpPr/>
          <p:nvPr/>
        </p:nvSpPr>
        <p:spPr>
          <a:xfrm>
            <a:off x="807719" y="2468880"/>
            <a:ext cx="4328159" cy="2743200"/>
          </a:xfrm>
          <a:prstGeom prst="rect">
            <a:avLst/>
          </a:prstGeom>
          <a:solidFill>
            <a:srgbClr val="E5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19" y="2377440"/>
            <a:ext cx="4328159" cy="2743200"/>
          </a:xfrm>
          <a:prstGeom prst="rect">
            <a:avLst/>
          </a:prstGeom>
          <a:solidFill>
            <a:srgbClr val="FBFAF6"/>
          </a:solidFill>
          <a:ln w="9525">
            <a:solidFill>
              <a:srgbClr val="C8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5359" y="2560320"/>
            <a:ext cx="38404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25" b="0" a:ea="Microsoft YaHei" a:latin="Aptos Mono">
                <a:solidFill>
                  <a:srgbClr val="56616D"/>
                </a:solidFill>
                <a:latin typeface="Aptos Mono"/>
              </a:rPr>
              <a:t>skills/grill-with-docs/SKILL.md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75359" y="2834640"/>
            <a:ext cx="384048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5359" y="3048000"/>
            <a:ext cx="3840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75" b="1" a:ea="Microsoft YaHei" a:latin="Microsoft YaHei">
                <a:solidFill>
                  <a:srgbClr val="111820"/>
                </a:solidFill>
                <a:latin typeface="Microsoft YaHei"/>
              </a:rPr>
              <a:t>先读文档，再追问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5359" y="3596640"/>
            <a:ext cx="60959" cy="609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8239" y="3535680"/>
            <a:ext cx="36575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a:ea="Microsoft YaHei" a:latin="Microsoft YaHei">
                <a:solidFill>
                  <a:srgbClr val="111820"/>
                </a:solidFill>
                <a:latin typeface="Microsoft YaHei"/>
              </a:rPr>
              <a:t>把模糊词变成可验证问题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5359" y="4145280"/>
            <a:ext cx="60959" cy="609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8239" y="4084320"/>
            <a:ext cx="36575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a:ea="Microsoft YaHei" a:latin="Microsoft YaHei">
                <a:solidFill>
                  <a:srgbClr val="111820"/>
                </a:solidFill>
                <a:latin typeface="Microsoft YaHei"/>
              </a:rPr>
              <a:t>把确认结果写回约定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19" y="2377440"/>
            <a:ext cx="2499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1" a:ea="Microsoft YaHei" a:latin="Aptos">
                <a:solidFill>
                  <a:srgbClr val="176B87"/>
                </a:solidFill>
                <a:latin typeface="Aptos"/>
              </a:rPr>
              <a:t>grill-with-docs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19" y="2804160"/>
            <a:ext cx="2499359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111820"/>
                </a:solidFill>
                <a:latin typeface="Microsoft YaHei"/>
              </a:rPr>
              <a:t>把歧义问成约束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17919" y="3291840"/>
            <a:ext cx="24993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961119" y="2377440"/>
            <a:ext cx="2499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1" a:ea="Microsoft YaHei" a:latin="Aptos">
                <a:solidFill>
                  <a:srgbClr val="176B87"/>
                </a:solidFill>
                <a:latin typeface="Aptos"/>
              </a:rPr>
              <a:t>tdd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2804160"/>
            <a:ext cx="2499359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111820"/>
                </a:solidFill>
                <a:latin typeface="Microsoft YaHei"/>
              </a:rPr>
              <a:t>先红后绿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61119" y="3291840"/>
            <a:ext cx="24993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17919" y="3596640"/>
            <a:ext cx="2499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1" a:ea="Microsoft YaHei" a:latin="Aptos">
                <a:solidFill>
                  <a:srgbClr val="176B87"/>
                </a:solidFill>
                <a:latin typeface="Aptos"/>
              </a:rPr>
              <a:t>diagnosing-bugs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19" y="4023360"/>
            <a:ext cx="2499359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111820"/>
                </a:solidFill>
                <a:latin typeface="Microsoft YaHei"/>
              </a:rPr>
              <a:t>先证据后改码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17919" y="4511040"/>
            <a:ext cx="24993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961119" y="3596640"/>
            <a:ext cx="2499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1" a:ea="Microsoft YaHei" a:latin="Aptos">
                <a:solidFill>
                  <a:srgbClr val="176B87"/>
                </a:solidFill>
                <a:latin typeface="Aptos"/>
              </a:rPr>
              <a:t>code-review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19" y="4023360"/>
            <a:ext cx="2499359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111820"/>
                </a:solidFill>
                <a:latin typeface="Microsoft YaHei"/>
              </a:rPr>
              <a:t>检查实现质量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961119" y="4511040"/>
            <a:ext cx="24993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17919" y="5120640"/>
            <a:ext cx="52425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75" b="0" a:ea="Microsoft YaHei" a:latin="Microsoft YaHei">
                <a:solidFill>
                  <a:srgbClr val="56616D"/>
                </a:solidFill>
                <a:latin typeface="Microsoft YaHei"/>
              </a:rPr>
              <a:t>四个技能覆盖受控开发的四个环节。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工具教程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安装与审阅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19" y="2072640"/>
            <a:ext cx="7071359" cy="1097280"/>
          </a:xfrm>
          <a:prstGeom prst="roundRect">
            <a:avLst/>
          </a:prstGeom>
          <a:solidFill>
            <a:srgbClr val="17212A"/>
          </a:solidFill>
          <a:ln w="9525">
            <a:solidFill>
              <a:srgbClr val="2B3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19" y="2072640"/>
            <a:ext cx="7071359" cy="335280"/>
          </a:xfrm>
          <a:prstGeom prst="rect">
            <a:avLst/>
          </a:prstGeom>
          <a:solidFill>
            <a:srgbClr val="222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399" y="2133600"/>
            <a:ext cx="67055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25" b="0" a:ea="Microsoft YaHei" a:latin="Aptos">
                <a:solidFill>
                  <a:srgbClr val="9BAAA5"/>
                </a:solidFill>
                <a:latin typeface="Aptos"/>
              </a:rPr>
              <a:t>示例命令 · 课堂不执行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79" y="2621280"/>
            <a:ext cx="66446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E8EEE9"/>
                </a:solidFill>
                <a:latin typeface="Aptos Mono"/>
              </a:rPr>
              <a:t>$ npx skills@latest add mattpocock/skills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7719" y="3627120"/>
            <a:ext cx="7071359" cy="1950720"/>
          </a:xfrm>
          <a:prstGeom prst="rect">
            <a:avLst/>
          </a:prstGeom>
          <a:solidFill>
            <a:srgbClr val="E5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19" y="3535680"/>
            <a:ext cx="7071359" cy="1950720"/>
          </a:xfrm>
          <a:prstGeom prst="rect">
            <a:avLst/>
          </a:prstGeom>
          <a:solidFill>
            <a:srgbClr val="FBFAF6"/>
          </a:solidFill>
          <a:ln w="9525">
            <a:solidFill>
              <a:srgbClr val="C8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5359" y="3718560"/>
            <a:ext cx="65836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25" b="0" a:ea="Microsoft YaHei" a:latin="Aptos Mono">
                <a:solidFill>
                  <a:srgbClr val="56616D"/>
                </a:solidFill>
                <a:latin typeface="Aptos Mono"/>
              </a:rPr>
              <a:t>review / installed files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75359" y="3992879"/>
            <a:ext cx="658368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75359" y="4145280"/>
            <a:ext cx="6583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75" b="1" a:ea="Microsoft YaHei" a:latin="Microsoft YaHei">
                <a:solidFill>
                  <a:srgbClr val="111820"/>
                </a:solidFill>
                <a:latin typeface="Microsoft YaHei"/>
              </a:rPr>
              <a:t>启用前审阅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5359" y="4754880"/>
            <a:ext cx="60959" cy="609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8239" y="4693920"/>
            <a:ext cx="64007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a:ea="Microsoft YaHei" a:latin="Microsoft YaHei">
                <a:solidFill>
                  <a:srgbClr val="111820"/>
                </a:solidFill>
                <a:latin typeface="Microsoft YaHei"/>
              </a:rPr>
              <a:t>看清写入了哪些文件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5359" y="5303520"/>
            <a:ext cx="60959" cy="609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8239" y="5242560"/>
            <a:ext cx="64007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a:ea="Microsoft YaHei" a:latin="Microsoft YaHei">
                <a:solidFill>
                  <a:srgbClr val="111820"/>
                </a:solidFill>
                <a:latin typeface="Microsoft YaHei"/>
              </a:rPr>
              <a:t>确认内容、setup 与权限边界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2133600"/>
            <a:ext cx="27431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Microsoft YaHei">
                <a:solidFill>
                  <a:srgbClr val="B84A45"/>
                </a:solidFill>
                <a:latin typeface="Microsoft YaHei"/>
              </a:rPr>
              <a:t>三条纪律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2560320"/>
            <a:ext cx="2499359" cy="195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75" b="1" a:ea="Microsoft YaHei" a:latin="Microsoft YaHei">
                <a:solidFill>
                  <a:srgbClr val="111820"/>
                </a:solidFill>
                <a:latin typeface="Microsoft YaHei"/>
              </a:rPr>
              <a:t>安装时选择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75" b="1" a:ea="Microsoft YaHei" a:latin="Microsoft YaHei">
                <a:solidFill>
                  <a:srgbClr val="111820"/>
                </a:solidFill>
                <a:latin typeface="Microsoft YaHei"/>
              </a:rPr>
              <a:t>setup-matt-pocock-skills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75" b="1" a:ea="Microsoft YaHei" a:latin="Microsoft YaHei">
                <a:solidFill>
                  <a:srgbClr val="111820"/>
                </a:solidFill>
                <a:latin typeface="Microsoft YaHei"/>
              </a:rPr>
              <a:t/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75" b="1" a:ea="Microsoft YaHei" a:latin="Microsoft YaHei">
                <a:solidFill>
                  <a:srgbClr val="111820"/>
                </a:solidFill>
                <a:latin typeface="Microsoft YaHei"/>
              </a:rPr>
              <a:t>每仓库运行一次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75" b="1" a:ea="Microsoft YaHei" a:latin="Microsoft YaHei">
                <a:solidFill>
                  <a:srgbClr val="111820"/>
                </a:solidFill>
                <a:latin typeface="Microsoft YaHei"/>
              </a:rPr>
              <a:t>/setup-matt-pocock-skills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75" b="1" a:ea="Microsoft YaHei" a:latin="Microsoft YaHei">
                <a:solidFill>
                  <a:srgbClr val="111820"/>
                </a:solidFill>
                <a:latin typeface="Microsoft YaHei"/>
              </a:rPr>
              <a:t/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75" b="1" a:ea="Microsoft YaHei" a:latin="Microsoft YaHei">
                <a:solidFill>
                  <a:srgbClr val="111820"/>
                </a:solidFill>
                <a:latin typeface="Microsoft YaHei"/>
              </a:rPr>
              <a:t>插件安装与 skills.sh 二选一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4998720"/>
            <a:ext cx="2499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a:ea="Microsoft YaHei" a:latin="Microsoft YaHei">
                <a:solidFill>
                  <a:srgbClr val="56616D"/>
                </a:solidFill>
                <a:latin typeface="Microsoft YaHei"/>
              </a:rPr>
              <a:t>版本以官网 / 上游为准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工具教程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grill / tdd / diagnose / code-review 用法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011680"/>
            <a:ext cx="24993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Aptos">
                <a:solidFill>
                  <a:srgbClr val="176B87"/>
                </a:solidFill>
                <a:latin typeface="Aptos"/>
              </a:rPr>
              <a:t>grill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19" y="2011680"/>
            <a:ext cx="61569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50" b="1" a:ea="Microsoft YaHei" a:latin="Microsoft YaHei">
                <a:solidFill>
                  <a:srgbClr val="111820"/>
                </a:solidFill>
                <a:latin typeface="Microsoft YaHei"/>
              </a:rPr>
              <a:t>先文档，后提问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19" y="2011680"/>
            <a:ext cx="670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56616D"/>
                </a:solidFill>
                <a:latin typeface="Aptos"/>
              </a:rP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19" y="249936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19" y="2865120"/>
            <a:ext cx="24993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Aptos">
                <a:solidFill>
                  <a:srgbClr val="176B87"/>
                </a:solidFill>
                <a:latin typeface="Aptos"/>
              </a:rPr>
              <a:t>tdd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19" y="2865120"/>
            <a:ext cx="61569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50" b="1" a:ea="Microsoft YaHei" a:latin="Microsoft YaHei">
                <a:solidFill>
                  <a:srgbClr val="111820"/>
                </a:solidFill>
                <a:latin typeface="Microsoft YaHei"/>
              </a:rPr>
              <a:t>先写失败测试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19" y="2865120"/>
            <a:ext cx="670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56616D"/>
                </a:solidFill>
                <a:latin typeface="Aptos"/>
              </a:rPr>
              <a:t>02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19" y="3352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19" y="3718560"/>
            <a:ext cx="24993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Aptos">
                <a:solidFill>
                  <a:srgbClr val="176B87"/>
                </a:solidFill>
                <a:latin typeface="Aptos"/>
              </a:rPr>
              <a:t>diagnose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19" y="3718560"/>
            <a:ext cx="61569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50" b="1" a:ea="Microsoft YaHei" a:latin="Microsoft YaHei">
                <a:solidFill>
                  <a:srgbClr val="111820"/>
                </a:solidFill>
                <a:latin typeface="Microsoft YaHei"/>
              </a:rPr>
              <a:t>先收集证据，再改码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19" y="3718560"/>
            <a:ext cx="670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56616D"/>
                </a:solidFill>
                <a:latin typeface="Aptos"/>
              </a:rPr>
              <a:t>03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19" y="420624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19" y="4572000"/>
            <a:ext cx="24993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Aptos">
                <a:solidFill>
                  <a:srgbClr val="176B87"/>
                </a:solidFill>
                <a:latin typeface="Aptos"/>
              </a:rPr>
              <a:t>code-review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19" y="4572000"/>
            <a:ext cx="61569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50" b="1" a:ea="Microsoft YaHei" a:latin="Microsoft YaHei">
                <a:solidFill>
                  <a:srgbClr val="111820"/>
                </a:solidFill>
                <a:latin typeface="Microsoft YaHei"/>
              </a:rPr>
              <a:t>看安全、清晰、可维护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19" y="4572000"/>
            <a:ext cx="670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56616D"/>
                </a:solidFill>
                <a:latin typeface="Aptos"/>
              </a:rPr>
              <a:t>04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19" y="505968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19" y="5608320"/>
            <a:ext cx="107289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4F7A57"/>
                </a:solidFill>
                <a:latin typeface="Microsoft YaHei"/>
              </a:rPr>
              <a:t>四句用法，就是后半场演示的骨架。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工具教程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何时单 Agent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5999" y="1950720"/>
            <a:ext cx="0" cy="384048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19" y="2011680"/>
            <a:ext cx="27431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Microsoft YaHei">
                <a:solidFill>
                  <a:srgbClr val="4F7A57"/>
                </a:solidFill>
                <a:latin typeface="Microsoft YaHei"/>
              </a:rPr>
              <a:t>一个 Agent 就够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19" y="2011680"/>
            <a:ext cx="27431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Microsoft YaHei">
                <a:solidFill>
                  <a:srgbClr val="D7B35C"/>
                </a:solidFill>
                <a:latin typeface="Microsoft YaHei"/>
              </a:rPr>
              <a:t>考虑编排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560320"/>
            <a:ext cx="43281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111820"/>
                </a:solidFill>
                <a:latin typeface="Microsoft YaHei"/>
              </a:rPr>
              <a:t>边界清晰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19" y="3108960"/>
            <a:ext cx="43281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19" y="3413760"/>
            <a:ext cx="43281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111820"/>
                </a:solidFill>
                <a:latin typeface="Microsoft YaHei"/>
              </a:rPr>
              <a:t>串行依赖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19" y="3962399"/>
            <a:ext cx="43281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19" y="4267200"/>
            <a:ext cx="43281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111820"/>
                </a:solidFill>
                <a:latin typeface="Microsoft YaHei"/>
              </a:rPr>
              <a:t>一个人能描述清楚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19" y="4815840"/>
            <a:ext cx="43281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7919" y="2560320"/>
            <a:ext cx="43281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111820"/>
                </a:solidFill>
                <a:latin typeface="Microsoft YaHei"/>
              </a:rPr>
              <a:t>能拆成独立子问题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17919" y="3108960"/>
            <a:ext cx="43281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17919" y="3413760"/>
            <a:ext cx="43281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111820"/>
                </a:solidFill>
                <a:latin typeface="Microsoft YaHei"/>
              </a:rPr>
              <a:t>需要并行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17919" y="3962399"/>
            <a:ext cx="43281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17919" y="4267200"/>
            <a:ext cx="43281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111820"/>
                </a:solidFill>
                <a:latin typeface="Microsoft YaHei"/>
              </a:rPr>
              <a:t>需要独立 / 对抗复核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17919" y="4815840"/>
            <a:ext cx="43281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1519" y="5303520"/>
            <a:ext cx="10728959" cy="548640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359" y="5425440"/>
            <a:ext cx="1024127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25" b="1" a:ea="Microsoft YaHei" a:latin="Microsoft YaHei">
                <a:solidFill>
                  <a:srgbClr val="FBFAF6"/>
                </a:solidFill>
                <a:latin typeface="Microsoft YaHei"/>
              </a:rPr>
              <a:t>能单 Agent，就不编排。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工具教程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oh-my-opencode-slim 是什么、为什么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950720"/>
            <a:ext cx="27431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Microsoft YaHei">
                <a:solidFill>
                  <a:srgbClr val="B84A45"/>
                </a:solidFill>
                <a:latin typeface="Microsoft YaHei"/>
              </a:rPr>
              <a:t>第三方社区插件 · 非 OpenCode 官方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438400"/>
            <a:ext cx="3413759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100" b="1" a:ea="Microsoft YaHei" a:latin="Microsoft YaHei">
                <a:solidFill>
                  <a:srgbClr val="111820"/>
                </a:solidFill>
                <a:latin typeface="Microsoft YaHei"/>
              </a:rPr>
              <a:t>长任务会带来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100" b="1" a:ea="Microsoft YaHei" a:latin="Microsoft YaHei">
                <a:solidFill>
                  <a:srgbClr val="111820"/>
                </a:solidFill>
                <a:latin typeface="Microsoft YaHei"/>
              </a:rPr>
              <a:t>上下文膨胀与注意力漂移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779519"/>
            <a:ext cx="3413759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0" a:ea="Microsoft YaHei" a:latin="Microsoft YaHei">
                <a:solidFill>
                  <a:srgbClr val="56616D"/>
                </a:solidFill>
                <a:latin typeface="Microsoft YaHei"/>
              </a:rPr>
              <a:t>复杂任务分职责；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0" a:ea="Microsoft YaHei" a:latin="Microsoft YaHei">
                <a:solidFill>
                  <a:srgbClr val="56616D"/>
                </a:solidFill>
                <a:latin typeface="Microsoft YaHei"/>
              </a:rPr>
              <a:t>简单任务不要用。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9" y="2133600"/>
            <a:ext cx="24993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">
                <a:solidFill>
                  <a:srgbClr val="176B87"/>
                </a:solidFill>
                <a:latin typeface="Aptos"/>
              </a:rPr>
              <a:t>Orchestrator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03519" y="2499360"/>
            <a:ext cx="24993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1119" y="2133600"/>
            <a:ext cx="24993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">
                <a:solidFill>
                  <a:srgbClr val="176B87"/>
                </a:solidFill>
                <a:latin typeface="Aptos"/>
              </a:rPr>
              <a:t>Explorer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61119" y="2499360"/>
            <a:ext cx="24993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03519" y="2804160"/>
            <a:ext cx="24993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">
                <a:solidFill>
                  <a:srgbClr val="176B87"/>
                </a:solidFill>
                <a:latin typeface="Aptos"/>
              </a:rPr>
              <a:t>Oracle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03519" y="3169920"/>
            <a:ext cx="24993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961119" y="2804160"/>
            <a:ext cx="24993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">
                <a:solidFill>
                  <a:srgbClr val="B84A45"/>
                </a:solidFill>
                <a:latin typeface="Aptos"/>
              </a:rPr>
              <a:t>Council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61119" y="3169920"/>
            <a:ext cx="24993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03519" y="3474720"/>
            <a:ext cx="24993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">
                <a:solidFill>
                  <a:srgbClr val="176B87"/>
                </a:solidFill>
                <a:latin typeface="Aptos"/>
              </a:rPr>
              <a:t>Librarian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03519" y="3840480"/>
            <a:ext cx="24993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961119" y="3474720"/>
            <a:ext cx="24993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">
                <a:solidFill>
                  <a:srgbClr val="176B87"/>
                </a:solidFill>
                <a:latin typeface="Aptos"/>
              </a:rPr>
              <a:t>Designer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61119" y="3840480"/>
            <a:ext cx="24993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03519" y="4145280"/>
            <a:ext cx="24993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">
                <a:solidFill>
                  <a:srgbClr val="176B87"/>
                </a:solidFill>
                <a:latin typeface="Aptos"/>
              </a:rPr>
              <a:t>Fixer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03519" y="4511040"/>
            <a:ext cx="24993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961119" y="4145280"/>
            <a:ext cx="24993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">
                <a:solidFill>
                  <a:srgbClr val="176B87"/>
                </a:solidFill>
                <a:latin typeface="Aptos"/>
              </a:rPr>
              <a:t>Observer · 可选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61119" y="4511040"/>
            <a:ext cx="24993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303519" y="5059680"/>
            <a:ext cx="6156959" cy="548640"/>
          </a:xfrm>
          <a:prstGeom prst="rect">
            <a:avLst/>
          </a:prstGeom>
          <a:solidFill>
            <a:srgbClr val="F8F4E8"/>
          </a:solidFill>
          <a:ln w="19050">
            <a:solidFill>
              <a:srgbClr val="D7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399" y="5181600"/>
            <a:ext cx="579119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1" a:ea="Microsoft YaHei" a:latin="Microsoft YaHei">
                <a:solidFill>
                  <a:srgbClr val="111820"/>
                </a:solidFill>
                <a:latin typeface="Microsoft YaHei"/>
              </a:rPr>
              <a:t>“计划 → 实现 → 复核”是抽象阶段，不是角色名。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工具教程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安装 / 配置 / 权限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19" y="1889759"/>
            <a:ext cx="7071359" cy="1463040"/>
          </a:xfrm>
          <a:prstGeom prst="roundRect">
            <a:avLst/>
          </a:prstGeom>
          <a:solidFill>
            <a:srgbClr val="17212A"/>
          </a:solidFill>
          <a:ln w="9525">
            <a:solidFill>
              <a:srgbClr val="2B3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19" y="1889759"/>
            <a:ext cx="7071359" cy="335280"/>
          </a:xfrm>
          <a:prstGeom prst="rect">
            <a:avLst/>
          </a:prstGeom>
          <a:solidFill>
            <a:srgbClr val="222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399" y="1950720"/>
            <a:ext cx="67055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25" b="0" a:ea="Microsoft YaHei" a:latin="Aptos">
                <a:solidFill>
                  <a:srgbClr val="9BAAA5"/>
                </a:solidFill>
                <a:latin typeface="Aptos"/>
              </a:rPr>
              <a:t>shell · 课堂不执行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79" y="2438400"/>
            <a:ext cx="66446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E8EEE9"/>
                </a:solidFill>
                <a:latin typeface="Aptos Mono"/>
              </a:rPr>
              <a:t>$ npx oh-my-opencode-slim@latest install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879" y="2682240"/>
            <a:ext cx="66446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9BAAA5"/>
                </a:solidFill>
                <a:latin typeface="Aptos Mono"/>
              </a:rPr>
              <a:t>→ 完成登录 / 刷新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879" y="2987040"/>
            <a:ext cx="66446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E8EEE9"/>
                </a:solidFill>
                <a:latin typeface="Aptos Mono"/>
              </a:rPr>
              <a:t>$ opencode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19" y="1889759"/>
            <a:ext cx="2499359" cy="1463040"/>
          </a:xfrm>
          <a:prstGeom prst="rect">
            <a:avLst/>
          </a:prstGeom>
          <a:solidFill>
            <a:srgbClr val="FBFAF6"/>
          </a:solidFill>
          <a:ln w="19050"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3999" y="2072640"/>
            <a:ext cx="21335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75" b="1" a:ea="Microsoft YaHei" a:latin="Microsoft YaHei">
                <a:solidFill>
                  <a:srgbClr val="176B87"/>
                </a:solidFill>
                <a:latin typeface="Microsoft YaHei"/>
              </a:rPr>
              <a:t>OpenCode 对话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3999" y="2377440"/>
            <a:ext cx="213360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3999" y="2682240"/>
            <a:ext cx="21335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1" a:ea="Microsoft YaHei" a:latin="Aptos Mono">
                <a:solidFill>
                  <a:srgbClr val="111820"/>
                </a:solidFill>
                <a:latin typeface="Aptos Mono"/>
              </a:rPr>
              <a:t>&gt; ping all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19" y="3596640"/>
            <a:ext cx="27431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Microsoft YaHei">
                <a:solidFill>
                  <a:srgbClr val="B84A45"/>
                </a:solidFill>
                <a:latin typeface="Microsoft YaHei"/>
              </a:rPr>
              <a:t>配置路径 · 安装不创建 agent 目录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" y="3962399"/>
            <a:ext cx="107289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 Mono">
                <a:solidFill>
                  <a:srgbClr val="111820"/>
                </a:solidFill>
                <a:latin typeface="Aptos Mono"/>
              </a:rPr>
              <a:t>用户级  ~/.config/opencode/oh-my-opencode-slim.json(c)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4267200"/>
            <a:ext cx="107289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 Mono">
                <a:solidFill>
                  <a:srgbClr val="111820"/>
                </a:solidFill>
                <a:latin typeface="Aptos Mono"/>
              </a:rPr>
              <a:t>项目级  .opencode/oh-my-opencode-slim.json  · 可选覆盖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" y="4754880"/>
            <a:ext cx="27431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Microsoft YaHei">
                <a:solidFill>
                  <a:srgbClr val="176B87"/>
                </a:solidFill>
                <a:latin typeface="Microsoft YaHei"/>
              </a:rPr>
              <a:t>环境变量 · 后台编排 / 整体禁用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9" y="5120640"/>
            <a:ext cx="61569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25" b="1" a:ea="Microsoft YaHei" a:latin="Aptos Mono">
                <a:solidFill>
                  <a:srgbClr val="176B87"/>
                </a:solidFill>
                <a:latin typeface="Aptos Mono"/>
              </a:rPr>
              <a:t>OPENCODE_EXPERIMENTAL_BACKGROUND_SUBAGENTS=true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19" y="5120640"/>
            <a:ext cx="43281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25" b="1" a:ea="Microsoft YaHei" a:latin="Aptos Mono">
                <a:solidFill>
                  <a:srgbClr val="B84A45"/>
                </a:solidFill>
                <a:latin typeface="Aptos Mono"/>
              </a:rPr>
              <a:t>OH_MY_OPENCODE_SLIM_DISABLE=1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19" y="5547360"/>
            <a:ext cx="107289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a:ea="Microsoft YaHei" a:latin="Microsoft YaHei">
                <a:solidFill>
                  <a:srgbClr val="56616D"/>
                </a:solidFill>
                <a:latin typeface="Microsoft YaHei"/>
              </a:rPr>
              <a:t>读写配置 / 调用模型需看清权限 · Council 多模型投票成本高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工具教程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agents 分工与最小用法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011680"/>
            <a:ext cx="670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377440"/>
            <a:ext cx="2499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75" b="1" a:ea="Microsoft YaHei" a:latin="Aptos">
                <a:solidFill>
                  <a:srgbClr val="111820"/>
                </a:solidFill>
                <a:latin typeface="Aptos"/>
              </a:rPr>
              <a:t>Orchestrator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19" y="2743200"/>
            <a:ext cx="2499360" cy="0"/>
          </a:xfrm>
          <a:prstGeom prst="line">
            <a:avLst/>
          </a:prstGeom>
          <a:ln w="19050">
            <a:solidFill>
              <a:srgbClr val="176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19" y="2865120"/>
            <a:ext cx="2499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Microsoft YaHei">
                <a:solidFill>
                  <a:srgbClr val="56616D"/>
                </a:solidFill>
                <a:latin typeface="Microsoft YaHei"/>
              </a:rPr>
              <a:t>分派与汇总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19" y="2011680"/>
            <a:ext cx="670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19" y="2377440"/>
            <a:ext cx="2499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75" b="1" a:ea="Microsoft YaHei" a:latin="Aptos">
                <a:solidFill>
                  <a:srgbClr val="111820"/>
                </a:solidFill>
                <a:latin typeface="Aptos"/>
              </a:rPr>
              <a:t>Explorer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89119" y="2743200"/>
            <a:ext cx="2499360" cy="0"/>
          </a:xfrm>
          <a:prstGeom prst="line">
            <a:avLst/>
          </a:prstGeom>
          <a:ln w="19050">
            <a:solidFill>
              <a:srgbClr val="176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89119" y="2865120"/>
            <a:ext cx="2499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Microsoft YaHei">
                <a:solidFill>
                  <a:srgbClr val="56616D"/>
                </a:solidFill>
                <a:latin typeface="Microsoft YaHei"/>
              </a:rPr>
              <a:t>只读侦察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011680"/>
            <a:ext cx="670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2377440"/>
            <a:ext cx="2499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75" b="1" a:ea="Microsoft YaHei" a:latin="Aptos">
                <a:solidFill>
                  <a:srgbClr val="111820"/>
                </a:solidFill>
                <a:latin typeface="Aptos"/>
              </a:rPr>
              <a:t>Fixer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46719" y="2743200"/>
            <a:ext cx="2499360" cy="0"/>
          </a:xfrm>
          <a:prstGeom prst="line">
            <a:avLst/>
          </a:prstGeom>
          <a:ln w="19050">
            <a:solidFill>
              <a:srgbClr val="176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46719" y="2865120"/>
            <a:ext cx="2499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Microsoft YaHei">
                <a:solidFill>
                  <a:srgbClr val="56616D"/>
                </a:solidFill>
                <a:latin typeface="Microsoft YaHei"/>
              </a:rPr>
              <a:t>有界实现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3352800"/>
            <a:ext cx="670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" y="3718560"/>
            <a:ext cx="2499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75" b="1" a:ea="Microsoft YaHei" a:latin="Aptos">
                <a:solidFill>
                  <a:srgbClr val="111820"/>
                </a:solidFill>
                <a:latin typeface="Aptos"/>
              </a:rPr>
              <a:t>Oracle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19" y="4084320"/>
            <a:ext cx="2499360" cy="0"/>
          </a:xfrm>
          <a:prstGeom prst="line">
            <a:avLst/>
          </a:prstGeom>
          <a:ln w="19050">
            <a:solidFill>
              <a:srgbClr val="176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19" y="4206240"/>
            <a:ext cx="2499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Microsoft YaHei">
                <a:solidFill>
                  <a:srgbClr val="56616D"/>
                </a:solidFill>
                <a:latin typeface="Microsoft YaHei"/>
              </a:rPr>
              <a:t>按需高风险评审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19" y="3352800"/>
            <a:ext cx="670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19" y="3718560"/>
            <a:ext cx="2499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75" b="1" a:ea="Microsoft YaHei" a:latin="Aptos">
                <a:solidFill>
                  <a:srgbClr val="111820"/>
                </a:solidFill>
                <a:latin typeface="Aptos"/>
              </a:rPr>
              <a:t>Council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389119" y="4084320"/>
            <a:ext cx="2499360" cy="0"/>
          </a:xfrm>
          <a:prstGeom prst="line">
            <a:avLst/>
          </a:prstGeom>
          <a:ln w="19050">
            <a:solidFill>
              <a:srgbClr val="B84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389119" y="4206240"/>
            <a:ext cx="2499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Microsoft YaHei">
                <a:solidFill>
                  <a:srgbClr val="56616D"/>
                </a:solidFill>
                <a:latin typeface="Microsoft YaHei"/>
              </a:rPr>
              <a:t>多模型投票 · 成本高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4693920"/>
            <a:ext cx="3413759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a:ea="Microsoft YaHei" a:latin="Microsoft YaHei">
                <a:solidFill>
                  <a:srgbClr val="56616D"/>
                </a:solidFill>
                <a:latin typeface="Microsoft YaHei"/>
              </a:rPr>
              <a:t>Designer：UI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a:ea="Microsoft YaHei" a:latin="Microsoft YaHei">
                <a:solidFill>
                  <a:srgbClr val="56616D"/>
                </a:solidFill>
                <a:latin typeface="Microsoft YaHei"/>
              </a:rPr>
              <a:t>Librarian：官方资料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19" y="5303520"/>
            <a:ext cx="45719" cy="426720"/>
          </a:xfrm>
          <a:prstGeom prst="rect">
            <a:avLst/>
          </a:prstGeom>
          <a:solidFill>
            <a:srgbClr val="4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5359" y="5242560"/>
            <a:ext cx="79857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25" b="1" a:ea="Microsoft YaHei" a:latin="Microsoft YaHei">
                <a:solidFill>
                  <a:srgbClr val="111820"/>
                </a:solidFill>
                <a:latin typeface="Microsoft YaHei"/>
              </a:rPr>
              <a:t>按需启用；本课演示主要使用单 Agent。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D7B35C"/>
                </a:solidFill>
                <a:latin typeface="Aptos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FBFAF6"/>
                </a:solidFill>
                <a:latin typeface="Microsoft YaHei"/>
              </a:rPr>
              <a:t>工具教程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FBFAF6"/>
                </a:solidFill>
                <a:latin typeface="Microsoft YaHei"/>
              </a:rPr>
              <a:t>OpenSpec 是什么、为什么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011680"/>
            <a:ext cx="6156959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925" b="1" a:ea="Microsoft YaHei" a:latin="Microsoft YaHei">
                <a:solidFill>
                  <a:srgbClr val="FBFAF6"/>
                </a:solidFill>
                <a:latin typeface="Microsoft YaHei"/>
              </a:rPr>
              <a:t>把“符合需求”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925" b="1" a:ea="Microsoft YaHei" a:latin="Microsoft YaHei">
                <a:solidFill>
                  <a:srgbClr val="FBFAF6"/>
                </a:solidFill>
                <a:latin typeface="Microsoft YaHei"/>
              </a:rPr>
              <a:t>变成可核对的证据。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718560"/>
            <a:ext cx="158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25" b="1" a:ea="Microsoft YaHei" a:latin="Microsoft YaHei">
                <a:solidFill>
                  <a:srgbClr val="FBFAF6"/>
                </a:solidFill>
                <a:latin typeface="Microsoft YaHei"/>
              </a:rPr>
              <a:t>需求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16479" y="3901440"/>
            <a:ext cx="975360" cy="0"/>
          </a:xfrm>
          <a:prstGeom prst="line">
            <a:avLst/>
          </a:prstGeom>
          <a:ln w="19050">
            <a:solidFill>
              <a:srgbClr val="D7B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3250691" y="3860292"/>
            <a:ext cx="82296" cy="82296"/>
          </a:xfrm>
          <a:prstGeom prst="triangle">
            <a:avLst/>
          </a:prstGeom>
          <a:solidFill>
            <a:srgbClr val="D7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19" y="3718560"/>
            <a:ext cx="158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25" b="1" a:ea="Microsoft YaHei" a:latin="Microsoft YaHei">
                <a:solidFill>
                  <a:srgbClr val="FBFAF6"/>
                </a:solidFill>
                <a:latin typeface="Microsoft YaHei"/>
              </a:rPr>
              <a:t>规范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59679" y="3901440"/>
            <a:ext cx="975360" cy="0"/>
          </a:xfrm>
          <a:prstGeom prst="line">
            <a:avLst/>
          </a:prstGeom>
          <a:ln w="19050">
            <a:solidFill>
              <a:srgbClr val="D7B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5993891" y="3860292"/>
            <a:ext cx="82296" cy="82296"/>
          </a:xfrm>
          <a:prstGeom prst="triangle">
            <a:avLst/>
          </a:prstGeom>
          <a:solidFill>
            <a:srgbClr val="D7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19" y="3718560"/>
            <a:ext cx="158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25" b="1" a:ea="Microsoft YaHei" a:latin="Microsoft YaHei">
                <a:solidFill>
                  <a:srgbClr val="FBFAF6"/>
                </a:solidFill>
                <a:latin typeface="Microsoft YaHei"/>
              </a:rPr>
              <a:t>实现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02879" y="3901440"/>
            <a:ext cx="975360" cy="0"/>
          </a:xfrm>
          <a:prstGeom prst="line">
            <a:avLst/>
          </a:prstGeom>
          <a:ln w="19050">
            <a:solidFill>
              <a:srgbClr val="D7B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8737091" y="3860292"/>
            <a:ext cx="82296" cy="82296"/>
          </a:xfrm>
          <a:prstGeom prst="triangle">
            <a:avLst/>
          </a:prstGeom>
          <a:solidFill>
            <a:srgbClr val="D7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19" y="3718560"/>
            <a:ext cx="158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25" b="1" a:ea="Microsoft YaHei" a:latin="Microsoft YaHei">
                <a:solidFill>
                  <a:srgbClr val="FBFAF6"/>
                </a:solidFill>
                <a:latin typeface="Microsoft YaHei"/>
              </a:rPr>
              <a:t>核对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" y="4937760"/>
            <a:ext cx="5242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a:ea="Microsoft YaHei" a:latin="Aptos">
                <a:solidFill>
                  <a:srgbClr val="AFC0C2"/>
                </a:solidFill>
                <a:latin typeface="Aptos"/>
              </a:rPr>
              <a:t>OpenSpec · openspec.dev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3341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91A0A5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工具教程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目录与 artifacts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19" y="1950720"/>
            <a:ext cx="5242559" cy="3657600"/>
          </a:xfrm>
          <a:prstGeom prst="roundRect">
            <a:avLst/>
          </a:prstGeom>
          <a:solidFill>
            <a:srgbClr val="17212A"/>
          </a:solidFill>
          <a:ln w="9525">
            <a:solidFill>
              <a:srgbClr val="2B3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19" y="1950720"/>
            <a:ext cx="5242559" cy="335280"/>
          </a:xfrm>
          <a:prstGeom prst="rect">
            <a:avLst/>
          </a:prstGeom>
          <a:solidFill>
            <a:srgbClr val="222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399" y="2011680"/>
            <a:ext cx="48767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25" b="0" a:ea="Microsoft YaHei" a:latin="Aptos">
                <a:solidFill>
                  <a:srgbClr val="9BAAA5"/>
                </a:solidFill>
                <a:latin typeface="Aptos"/>
              </a:rPr>
              <a:t>openspec /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79" y="2499360"/>
            <a:ext cx="48158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E8EEE9"/>
                </a:solidFill>
                <a:latin typeface="Aptos Mono"/>
              </a:rPr>
              <a:t>openspec/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879" y="2804160"/>
            <a:ext cx="48158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E8EEE9"/>
                </a:solidFill>
                <a:latin typeface="Aptos Mono"/>
              </a:rPr>
              <a:t>├─ changes/&lt;change&gt;/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879" y="3048000"/>
            <a:ext cx="48158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9BAAA5"/>
                </a:solidFill>
                <a:latin typeface="Aptos Mono"/>
              </a:rPr>
              <a:t>│  ├─ proposal.md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879" y="3352800"/>
            <a:ext cx="48158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9BAAA5"/>
                </a:solidFill>
                <a:latin typeface="Aptos Mono"/>
              </a:rPr>
              <a:t>│  ├─ specs/.../spec.md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79" y="3657600"/>
            <a:ext cx="48158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9BAAA5"/>
                </a:solidFill>
                <a:latin typeface="Aptos Mono"/>
              </a:rPr>
              <a:t>│  ├─ design.md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879" y="3901440"/>
            <a:ext cx="48158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9BAAA5"/>
                </a:solidFill>
                <a:latin typeface="Aptos Mono"/>
              </a:rPr>
              <a:t>│  └─ tasks.md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879" y="4206240"/>
            <a:ext cx="48158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E8EEE9"/>
                </a:solidFill>
                <a:latin typeface="Aptos Mono"/>
              </a:rPr>
              <a:t>└─ changes/archive/...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19" y="2011680"/>
            <a:ext cx="15849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a:ea="Microsoft YaHei" a:latin="Aptos">
                <a:solidFill>
                  <a:srgbClr val="176B87"/>
                </a:solidFill>
                <a:latin typeface="Aptos"/>
              </a:rPr>
              <a:t>proposal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2011680"/>
            <a:ext cx="24993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0" a:ea="Microsoft YaHei" a:latin="Microsoft YaHei">
                <a:solidFill>
                  <a:srgbClr val="111820"/>
                </a:solidFill>
                <a:latin typeface="Microsoft YaHei"/>
              </a:rPr>
              <a:t>为什么改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19" y="2743200"/>
            <a:ext cx="15849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a:ea="Microsoft YaHei" a:latin="Aptos">
                <a:solidFill>
                  <a:srgbClr val="176B87"/>
                </a:solidFill>
                <a:latin typeface="Aptos"/>
              </a:rPr>
              <a:t>spec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2743200"/>
            <a:ext cx="24993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0" a:ea="Microsoft YaHei" a:latin="Microsoft YaHei">
                <a:solidFill>
                  <a:srgbClr val="111820"/>
                </a:solidFill>
                <a:latin typeface="Microsoft YaHei"/>
              </a:rPr>
              <a:t>SHALL + 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19" y="3474720"/>
            <a:ext cx="15849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a:ea="Microsoft YaHei" a:latin="Aptos">
                <a:solidFill>
                  <a:srgbClr val="176B87"/>
                </a:solidFill>
                <a:latin typeface="Aptos"/>
              </a:rPr>
              <a:t>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3474720"/>
            <a:ext cx="24993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0" a:ea="Microsoft YaHei" a:latin="Microsoft YaHei">
                <a:solidFill>
                  <a:srgbClr val="111820"/>
                </a:solidFill>
                <a:latin typeface="Microsoft YaHei"/>
              </a:rPr>
              <a:t>设计决策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19" y="4206240"/>
            <a:ext cx="15849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a:ea="Microsoft YaHei" a:latin="Aptos">
                <a:solidFill>
                  <a:srgbClr val="176B87"/>
                </a:solidFill>
                <a:latin typeface="Aptos"/>
              </a:rPr>
              <a:t>tasks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4206240"/>
            <a:ext cx="24993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0" a:ea="Microsoft YaHei" a:latin="Microsoft YaHei">
                <a:solidFill>
                  <a:srgbClr val="111820"/>
                </a:solidFill>
                <a:latin typeface="Microsoft YaHei"/>
              </a:rPr>
              <a:t>最小步骤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19" y="5059680"/>
            <a:ext cx="43281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a:ea="Microsoft YaHei" a:latin="Microsoft YaHei">
                <a:solidFill>
                  <a:srgbClr val="B84A45"/>
                </a:solidFill>
                <a:latin typeface="Microsoft YaHei"/>
              </a:rPr>
              <a:t>培训夹具位于 docs 下，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a:ea="Microsoft YaHei" a:latin="Microsoft YaHei">
                <a:solidFill>
                  <a:srgbClr val="B84A45"/>
                </a:solidFill>
                <a:latin typeface="Microsoft YaHei"/>
              </a:rPr>
              <a:t>不进入 CLI 扫描。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工具教程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CLI vs 聊天命令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5999" y="1950720"/>
            <a:ext cx="0" cy="384048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19" y="2011680"/>
            <a:ext cx="27431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Microsoft YaHei">
                <a:solidFill>
                  <a:srgbClr val="176B87"/>
                </a:solidFill>
                <a:latin typeface="Microsoft YaHei"/>
              </a:rPr>
              <a:t>CLI · 给人操作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19" y="2011680"/>
            <a:ext cx="27431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Microsoft YaHei">
                <a:solidFill>
                  <a:srgbClr val="176B87"/>
                </a:solidFill>
                <a:latin typeface="Microsoft YaHei"/>
              </a:rPr>
              <a:t>聊天命令 · 给会话使用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560320"/>
            <a:ext cx="43281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111820"/>
                </a:solidFill>
                <a:latin typeface="Microsoft YaHei"/>
              </a:rPr>
              <a:t>终端中直接运行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19" y="3108960"/>
            <a:ext cx="43281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19" y="3413760"/>
            <a:ext cx="43281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111820"/>
                </a:solidFill>
                <a:latin typeface="Microsoft YaHei"/>
              </a:rPr>
              <a:t>适合手动检查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19" y="3962399"/>
            <a:ext cx="43281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19" y="4267200"/>
            <a:ext cx="43281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111820"/>
                </a:solidFill>
                <a:latin typeface="Microsoft YaHei"/>
              </a:rPr>
              <a:t>由人控制参数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19" y="4815840"/>
            <a:ext cx="43281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7919" y="2560320"/>
            <a:ext cx="43281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111820"/>
                </a:solidFill>
                <a:latin typeface="Microsoft YaHei"/>
              </a:rPr>
              <a:t>本仓库使用连字符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17919" y="3108960"/>
            <a:ext cx="43281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17919" y="3413760"/>
            <a:ext cx="43281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111820"/>
                </a:solidFill>
                <a:latin typeface="Microsoft YaHei"/>
              </a:rPr>
              <a:t>Agent 在会话内调用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17919" y="3962399"/>
            <a:ext cx="43281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17919" y="4267200"/>
            <a:ext cx="43281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111820"/>
                </a:solidFill>
                <a:latin typeface="Microsoft YaHei"/>
              </a:rPr>
              <a:t>项目已有资产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17919" y="4815840"/>
            <a:ext cx="43281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1519" y="5303520"/>
            <a:ext cx="10728959" cy="548640"/>
          </a:xfrm>
          <a:prstGeom prst="rect">
            <a:avLst/>
          </a:prstGeom>
          <a:solidFill>
            <a:srgbClr val="172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399" y="5425440"/>
            <a:ext cx="1036319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 Mono">
                <a:solidFill>
                  <a:srgbClr val="E8EEE9"/>
                </a:solidFill>
                <a:latin typeface="Aptos Mono"/>
              </a:rPr>
              <a:t>/opsx-propose   /opsx-apply   /opsx-verify   /opsx-archive   /opsx-explore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工具教程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propose → apply → verify → archive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133600"/>
            <a:ext cx="158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75" b="1" a:ea="Microsoft YaHei" a:latin="Aptos">
                <a:solidFill>
                  <a:srgbClr val="176B87"/>
                </a:solidFill>
                <a:latin typeface="Aptos"/>
              </a:rPr>
              <a:t>explore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560320"/>
            <a:ext cx="158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a:ea="Microsoft YaHei" a:latin="Microsoft YaHei">
                <a:solidFill>
                  <a:srgbClr val="111820"/>
                </a:solidFill>
                <a:latin typeface="Microsoft YaHei"/>
              </a:rPr>
              <a:t>摸现状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16479" y="2743200"/>
            <a:ext cx="975360" cy="0"/>
          </a:xfrm>
          <a:prstGeom prst="line">
            <a:avLst/>
          </a:prstGeom>
          <a:ln w="19050">
            <a:solidFill>
              <a:srgbClr val="176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3250691" y="2702052"/>
            <a:ext cx="82296" cy="82296"/>
          </a:xfrm>
          <a:prstGeom prst="triangl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19" y="2133600"/>
            <a:ext cx="158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75" b="1" a:ea="Microsoft YaHei" a:latin="Aptos">
                <a:solidFill>
                  <a:srgbClr val="176B87"/>
                </a:solidFill>
                <a:latin typeface="Aptos"/>
              </a:rPr>
              <a:t>propose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19" y="2560320"/>
            <a:ext cx="158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a:ea="Microsoft YaHei" a:latin="Microsoft YaHei">
                <a:solidFill>
                  <a:srgbClr val="111820"/>
                </a:solidFill>
                <a:latin typeface="Microsoft YaHei"/>
              </a:rPr>
              <a:t>出规格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59679" y="2743200"/>
            <a:ext cx="975360" cy="0"/>
          </a:xfrm>
          <a:prstGeom prst="line">
            <a:avLst/>
          </a:prstGeom>
          <a:ln w="19050">
            <a:solidFill>
              <a:srgbClr val="176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5993891" y="2702052"/>
            <a:ext cx="82296" cy="82296"/>
          </a:xfrm>
          <a:prstGeom prst="triangl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19" y="2133600"/>
            <a:ext cx="158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75" b="1" a:ea="Microsoft YaHei" a:latin="Aptos">
                <a:solidFill>
                  <a:srgbClr val="176B87"/>
                </a:solidFill>
                <a:latin typeface="Aptos"/>
              </a:rPr>
              <a:t>apply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19" y="2560320"/>
            <a:ext cx="158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a:ea="Microsoft YaHei" a:latin="Microsoft YaHei">
                <a:solidFill>
                  <a:srgbClr val="111820"/>
                </a:solidFill>
                <a:latin typeface="Microsoft YaHei"/>
              </a:rPr>
              <a:t>按规格实现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02879" y="2743200"/>
            <a:ext cx="975360" cy="0"/>
          </a:xfrm>
          <a:prstGeom prst="line">
            <a:avLst/>
          </a:prstGeom>
          <a:ln w="19050">
            <a:solidFill>
              <a:srgbClr val="176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8737091" y="2702052"/>
            <a:ext cx="82296" cy="82296"/>
          </a:xfrm>
          <a:prstGeom prst="triangl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19" y="2133600"/>
            <a:ext cx="158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75" b="1" a:ea="Microsoft YaHei" a:latin="Aptos">
                <a:solidFill>
                  <a:srgbClr val="176B87"/>
                </a:solidFill>
                <a:latin typeface="Aptos"/>
              </a:rPr>
              <a:t>archive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2560320"/>
            <a:ext cx="158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a:ea="Microsoft YaHei" a:latin="Microsoft YaHei">
                <a:solidFill>
                  <a:srgbClr val="111820"/>
                </a:solidFill>
                <a:latin typeface="Microsoft YaHei"/>
              </a:rPr>
              <a:t>完成后归档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719" y="3566160"/>
            <a:ext cx="6156959" cy="1889759"/>
          </a:xfrm>
          <a:prstGeom prst="rect">
            <a:avLst/>
          </a:prstGeom>
          <a:solidFill>
            <a:srgbClr val="E5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19" y="3474720"/>
            <a:ext cx="6156959" cy="1889759"/>
          </a:xfrm>
          <a:prstGeom prst="rect">
            <a:avLst/>
          </a:prstGeom>
          <a:solidFill>
            <a:srgbClr val="FBFAF6"/>
          </a:solidFill>
          <a:ln w="9525">
            <a:solidFill>
              <a:srgbClr val="C8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359" y="3657600"/>
            <a:ext cx="56692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25" b="0" a:ea="Microsoft YaHei" a:latin="Aptos Mono">
                <a:solidFill>
                  <a:srgbClr val="56616D"/>
                </a:solidFill>
                <a:latin typeface="Aptos Mono"/>
              </a:rPr>
              <a:t>.opencode/commands/opsx-verify.md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75359" y="3931920"/>
            <a:ext cx="566928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75359" y="4145280"/>
            <a:ext cx="5669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75" b="1" a:ea="Microsoft YaHei" a:latin="Microsoft YaHei">
                <a:solidFill>
                  <a:srgbClr val="111820"/>
                </a:solidFill>
                <a:latin typeface="Microsoft YaHei"/>
              </a:rPr>
              <a:t>项目已有启发式命令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5359" y="4693920"/>
            <a:ext cx="60959" cy="609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58239" y="4632960"/>
            <a:ext cx="54863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a:ea="Microsoft YaHei" a:latin="Microsoft YaHei">
                <a:solidFill>
                  <a:srgbClr val="111820"/>
                </a:solidFill>
                <a:latin typeface="Microsoft YaHei"/>
              </a:rPr>
              <a:t>读取 artifacts · 搜索代码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5359" y="5242560"/>
            <a:ext cx="60959" cy="609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8239" y="5181600"/>
            <a:ext cx="54863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a:ea="Microsoft YaHei" a:latin="Microsoft YaHei">
                <a:solidFill>
                  <a:srgbClr val="111820"/>
                </a:solidFill>
                <a:latin typeface="Microsoft YaHei"/>
              </a:rPr>
              <a:t>判断完整性 / 正确性 / 连贯性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5359" y="5791200"/>
            <a:ext cx="60959" cy="609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58239" y="5730240"/>
            <a:ext cx="54863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a:ea="Microsoft YaHei" a:latin="Microsoft YaHei">
                <a:solidFill>
                  <a:srgbClr val="111820"/>
                </a:solidFill>
                <a:latin typeface="Microsoft YaHei"/>
              </a:rPr>
              <a:t>无需 profile · 不自动运行测试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19" y="3474720"/>
            <a:ext cx="3413759" cy="1889759"/>
          </a:xfrm>
          <a:prstGeom prst="rect">
            <a:avLst/>
          </a:prstGeom>
          <a:solidFill>
            <a:srgbClr val="F7EDE8"/>
          </a:solidFill>
          <a:ln w="19050">
            <a:solidFill>
              <a:srgbClr val="B84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90559" y="3718560"/>
            <a:ext cx="292607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">
                <a:solidFill>
                  <a:srgbClr val="B84A45"/>
                </a:solidFill>
                <a:latin typeface="Aptos"/>
              </a:rPr>
              <a:t>STRICT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0559" y="4145280"/>
            <a:ext cx="2926079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a:ea="Microsoft YaHei" a:latin="Microsoft YaHei">
                <a:solidFill>
                  <a:srgbClr val="111820"/>
                </a:solidFill>
                <a:latin typeface="Microsoft YaHei"/>
              </a:rPr>
              <a:t>格式 · requirement / scenario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a:ea="Microsoft YaHei" a:latin="Microsoft YaHei">
                <a:solidFill>
                  <a:srgbClr val="111820"/>
                </a:solidFill>
                <a:latin typeface="Microsoft YaHei"/>
              </a:rPr>
              <a:t>结构与可解析性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0559" y="4937760"/>
            <a:ext cx="292607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75" b="1" a:ea="Microsoft YaHei" a:latin="Microsoft YaHei">
                <a:solidFill>
                  <a:srgbClr val="B84A45"/>
                </a:solidFill>
                <a:latin typeface="Microsoft YaHei"/>
              </a:rPr>
              <a:t>不证明 artifacts 完成度或行为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工具教程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MCP 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133600"/>
            <a:ext cx="6156959" cy="85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50" b="1" a:ea="Microsoft YaHei" a:latin="Microsoft YaHei">
                <a:solidFill>
                  <a:srgbClr val="111820"/>
                </a:solidFill>
                <a:latin typeface="Microsoft YaHei"/>
              </a:rPr>
              <a:t>内置工具不够，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50" b="1" a:ea="Microsoft YaHei" a:latin="Microsoft YaHei">
                <a:solidFill>
                  <a:srgbClr val="111820"/>
                </a:solidFill>
                <a:latin typeface="Microsoft YaHei"/>
              </a:rPr>
              <a:t>又必须连接外部系统时，才考虑 MCP。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19" y="3413760"/>
            <a:ext cx="6156960" cy="0"/>
          </a:xfrm>
          <a:prstGeom prst="line">
            <a:avLst/>
          </a:prstGeom>
          <a:ln w="38100">
            <a:solidFill>
              <a:srgbClr val="176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19" y="3718560"/>
            <a:ext cx="61569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0" a:ea="Microsoft YaHei" a:latin="Microsoft YaHei">
                <a:solidFill>
                  <a:srgbClr val="56616D"/>
                </a:solidFill>
                <a:latin typeface="Microsoft YaHei"/>
              </a:rPr>
              <a:t>它是协议，不是需要安装的单一运行时。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19" y="2133600"/>
            <a:ext cx="3413759" cy="2316480"/>
          </a:xfrm>
          <a:prstGeom prst="rect">
            <a:avLst/>
          </a:prstGeom>
          <a:solidFill>
            <a:srgbClr val="F8F4E8"/>
          </a:solidFill>
          <a:ln w="9525">
            <a:solidFill>
              <a:srgbClr val="C8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19" y="2133600"/>
            <a:ext cx="3413759" cy="76200"/>
          </a:xfrm>
          <a:prstGeom prst="rect">
            <a:avLst/>
          </a:prstGeom>
          <a:solidFill>
            <a:srgbClr val="D7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0559" y="2377440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Microsoft YaHei">
                <a:solidFill>
                  <a:srgbClr val="56616D"/>
                </a:solidFill>
                <a:latin typeface="Microsoft YaHei"/>
              </a:rPr>
              <a:t>本项目边界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0559" y="2804160"/>
            <a:ext cx="292607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1" a:ea="Microsoft YaHei" a:latin="Microsoft YaHei">
                <a:solidFill>
                  <a:srgbClr val="111820"/>
                </a:solidFill>
                <a:latin typeface="Microsoft YaHei"/>
              </a:rPr>
              <a:t>无 MCP 配置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1" a:ea="Microsoft YaHei" a:latin="Microsoft YaHei">
                <a:solidFill>
                  <a:srgbClr val="111820"/>
                </a:solidFill>
                <a:latin typeface="Microsoft YaHei"/>
              </a:rPr>
              <a:t>本课不演示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4876800"/>
            <a:ext cx="34137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a:ea="Microsoft YaHei" a:latin="Microsoft YaHei">
                <a:solidFill>
                  <a:srgbClr val="B84A45"/>
                </a:solidFill>
                <a:latin typeface="Microsoft YaHei"/>
              </a:rPr>
              <a:t>别为用而用。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D7B35C"/>
                </a:solidFill>
                <a:latin typeface="Aptos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FBFAF6"/>
                </a:solidFill>
                <a:latin typeface="Microsoft YaHei"/>
              </a:rPr>
              <a:t>开发方法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FBFAF6"/>
                </a:solidFill>
                <a:latin typeface="Microsoft YaHei"/>
              </a:rPr>
              <a:t>TDD vs diagnosis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5999" y="1950720"/>
            <a:ext cx="0" cy="3840480"/>
          </a:xfrm>
          <a:prstGeom prst="line">
            <a:avLst/>
          </a:prstGeom>
          <a:ln w="9525">
            <a:solidFill>
              <a:srgbClr val="455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19" y="2011680"/>
            <a:ext cx="27431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Microsoft YaHei">
                <a:solidFill>
                  <a:srgbClr val="D7B35C"/>
                </a:solidFill>
                <a:latin typeface="Microsoft YaHei"/>
              </a:rPr>
              <a:t>TDD · 已知目标行为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499360"/>
            <a:ext cx="4328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175" b="1" a:ea="Microsoft YaHei" a:latin="Microsoft YaHei">
                <a:solidFill>
                  <a:srgbClr val="FBFAF6"/>
                </a:solidFill>
                <a:latin typeface="Microsoft YaHei"/>
              </a:rPr>
              <a:t>“保存后应立即刷新”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535680"/>
            <a:ext cx="4328159" cy="85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75" b="0" a:ea="Microsoft YaHei" a:latin="Microsoft YaHei">
                <a:solidFill>
                  <a:srgbClr val="C8D0CE"/>
                </a:solidFill>
                <a:latin typeface="Microsoft YaHei"/>
              </a:rPr>
              <a:t>第一步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75" b="0" a:ea="Microsoft YaHei" a:latin="Microsoft YaHei">
                <a:solidFill>
                  <a:srgbClr val="C8D0CE"/>
                </a:solidFill>
                <a:latin typeface="Microsoft YaHei"/>
              </a:rPr>
              <a:t>写一个会失败的测试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693920"/>
            <a:ext cx="43281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a:ea="Microsoft YaHei" a:latin="Microsoft YaHei">
                <a:solidFill>
                  <a:srgbClr val="D9C982"/>
                </a:solidFill>
                <a:latin typeface="Microsoft YaHei"/>
              </a:rPr>
              <a:t>项目案例完整演示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19" y="2011680"/>
            <a:ext cx="27431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Microsoft YaHei">
                <a:solidFill>
                  <a:srgbClr val="D7B35C"/>
                </a:solidFill>
                <a:latin typeface="Microsoft YaHei"/>
              </a:rPr>
              <a:t>DIAGNOSIS · 未知故障原因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19" y="2438400"/>
            <a:ext cx="52425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a:ea="Microsoft YaHei" a:latin="Microsoft YaHei">
                <a:solidFill>
                  <a:srgbClr val="FBFAF6"/>
                </a:solidFill>
                <a:latin typeface="Microsoft YaHei"/>
              </a:rPr>
              <a:t>虚构教学微案例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a:ea="Microsoft YaHei" a:latin="Microsoft YaHei">
                <a:solidFill>
                  <a:srgbClr val="FBFAF6"/>
                </a:solidFill>
                <a:latin typeface="Microsoft YaHei"/>
              </a:rPr>
              <a:t>搜索框 Enter 失败 · 点击正常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19" y="3169920"/>
            <a:ext cx="15849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Microsoft YaHei">
                <a:solidFill>
                  <a:srgbClr val="D7B35C"/>
                </a:solidFill>
                <a:latin typeface="Microsoft YaHei"/>
              </a:rPr>
              <a:t>01 复现 / 最小化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3169920"/>
            <a:ext cx="3413759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FBFAF6"/>
                </a:solidFill>
                <a:latin typeface="Microsoft YaHei"/>
              </a:rPr>
              <a:t>只留搜索表单与 keydown 路径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19" y="3779519"/>
            <a:ext cx="15849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Microsoft YaHei">
                <a:solidFill>
                  <a:srgbClr val="D7B35C"/>
                </a:solidFill>
                <a:latin typeface="Microsoft YaHei"/>
              </a:rPr>
              <a:t>02 假设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3779519"/>
            <a:ext cx="3413759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FBFAF6"/>
                </a:solidFill>
                <a:latin typeface="Microsoft YaHei"/>
              </a:rPr>
              <a:t>焦点 · preventDefault · submit 绑定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19" y="4389120"/>
            <a:ext cx="15849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Microsoft YaHei">
                <a:solidFill>
                  <a:srgbClr val="D7B35C"/>
                </a:solidFill>
                <a:latin typeface="Microsoft YaHei"/>
              </a:rPr>
              <a:t>03 插桩 / 排除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4389120"/>
            <a:ext cx="3413759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FBFAF6"/>
                </a:solidFill>
                <a:latin typeface="Microsoft YaHei"/>
              </a:rPr>
              <a:t>keydown 已触发 · submit handler=0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FBFAF6"/>
                </a:solidFill>
                <a:latin typeface="Microsoft YaHei"/>
              </a:rPr>
              <a:t>排除焦点 / 后端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19" y="4998720"/>
            <a:ext cx="15849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Microsoft YaHei">
                <a:solidFill>
                  <a:srgbClr val="D7B35C"/>
                </a:solidFill>
                <a:latin typeface="Microsoft YaHei"/>
              </a:rPr>
              <a:t>04 修复 / 回归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9" y="4998720"/>
            <a:ext cx="3413759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FBFAF6"/>
                </a:solidFill>
                <a:latin typeface="Microsoft YaHei"/>
              </a:rPr>
              <a:t>统一 form onSubmit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FBFAF6"/>
                </a:solidFill>
                <a:latin typeface="Microsoft YaHei"/>
              </a:rPr>
              <a:t>Enter / 点击各触发 1 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19" y="5669280"/>
            <a:ext cx="52425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25" b="1" a:ea="Microsoft YaHei" a:latin="Microsoft YaHei">
                <a:solidFill>
                  <a:srgbClr val="D9C982"/>
                </a:solidFill>
                <a:latin typeface="Microsoft YaHei"/>
              </a:rPr>
              <a:t>独立于项目四阶段 · 不声称来自真实缺陷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3341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91A0A5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开发方法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四层证据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889759"/>
            <a:ext cx="670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75" b="1" a:ea="Microsoft YaHei" a:latin="Aptos">
                <a:solidFill>
                  <a:srgbClr val="176B87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1889759"/>
            <a:ext cx="2499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75" b="1" a:ea="Microsoft YaHei" a:latin="Aptos">
                <a:solidFill>
                  <a:srgbClr val="111820"/>
                </a:solidFill>
                <a:latin typeface="Aptos"/>
              </a:rPr>
              <a:t>strict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19" y="1889759"/>
            <a:ext cx="34137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a:ea="Microsoft YaHei" a:latin="Microsoft YaHei">
                <a:solidFill>
                  <a:srgbClr val="111820"/>
                </a:solidFill>
                <a:latin typeface="Microsoft YaHei"/>
              </a:rPr>
              <a:t>规格结构完整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9" y="1889759"/>
            <a:ext cx="34137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a:ea="Microsoft YaHei" a:latin="Microsoft YaHei">
                <a:solidFill>
                  <a:srgbClr val="B84A45"/>
                </a:solidFill>
                <a:latin typeface="Microsoft YaHei"/>
              </a:rPr>
              <a:t>不证明行为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19" y="249936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19" y="2560320"/>
            <a:ext cx="670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75" b="1" a:ea="Microsoft YaHei" a:latin="Aptos">
                <a:solidFill>
                  <a:srgbClr val="D7B35C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2560320"/>
            <a:ext cx="2499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75" b="1" a:ea="Microsoft YaHei" a:latin="Aptos">
                <a:solidFill>
                  <a:srgbClr val="111820"/>
                </a:solidFill>
                <a:latin typeface="Aptos"/>
              </a:rPr>
              <a:t>规范映射 / 启发式核对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19" y="2560320"/>
            <a:ext cx="3413759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a:ea="Microsoft YaHei" a:latin="Microsoft YaHei">
                <a:solidFill>
                  <a:srgbClr val="111820"/>
                </a:solidFill>
                <a:latin typeface="Microsoft YaHei"/>
              </a:rPr>
              <a:t>历史人工/等效规范映射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a:ea="Microsoft YaHei" a:latin="Microsoft YaHei">
                <a:solidFill>
                  <a:srgbClr val="111820"/>
                </a:solidFill>
                <a:latin typeface="Microsoft YaHei"/>
              </a:rPr>
              <a:t>/opsx-verify 可辅助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560320"/>
            <a:ext cx="3413759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a:ea="Microsoft YaHei" a:latin="Microsoft YaHei">
                <a:solidFill>
                  <a:srgbClr val="B84A45"/>
                </a:solidFill>
                <a:latin typeface="Microsoft YaHei"/>
              </a:rPr>
              <a:t>当时未运行命令；不覆盖场景外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19" y="329184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19" y="3352800"/>
            <a:ext cx="670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75" b="1" a:ea="Microsoft YaHei" a:latin="Aptos">
                <a:solidFill>
                  <a:srgbClr val="4F7A57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19" y="3352800"/>
            <a:ext cx="2499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75" b="1" a:ea="Microsoft YaHei" a:latin="Aptos">
                <a:solidFill>
                  <a:srgbClr val="111820"/>
                </a:solidFill>
                <a:latin typeface="Aptos"/>
              </a:rPr>
              <a:t>机器执行证据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19" y="3352800"/>
            <a:ext cx="34137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a:ea="Microsoft YaHei" a:latin="Microsoft YaHei">
                <a:solidFill>
                  <a:srgbClr val="4F7A57"/>
                </a:solidFill>
                <a:latin typeface="Microsoft YaHei"/>
              </a:rPr>
              <a:t>tests：被断言行为 · typecheck：类型一致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a:ea="Microsoft YaHei" a:latin="Microsoft YaHei">
                <a:solidFill>
                  <a:srgbClr val="4F7A57"/>
                </a:solidFill>
                <a:latin typeface="Microsoft YaHei"/>
              </a:rPr>
              <a:t>build / package：可构建打包 · E2E：特定环境路径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3352800"/>
            <a:ext cx="34137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a:ea="Microsoft YaHei" a:latin="Microsoft YaHei">
                <a:solidFill>
                  <a:srgbClr val="B84A45"/>
                </a:solidFill>
                <a:latin typeface="Microsoft YaHei"/>
              </a:rPr>
              <a:t>不证明未断言行为 / 其他环境 / 代码质量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19" y="438912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19" y="4450080"/>
            <a:ext cx="670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75" b="1" a:ea="Microsoft YaHei" a:latin="Aptos">
                <a:solidFill>
                  <a:srgbClr val="111820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19" y="4450080"/>
            <a:ext cx="2499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75" b="1" a:ea="Microsoft YaHei" a:latin="Aptos">
                <a:solidFill>
                  <a:srgbClr val="111820"/>
                </a:solidFill>
                <a:latin typeface="Aptos"/>
              </a:rPr>
              <a:t>code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19" y="4450080"/>
            <a:ext cx="34137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a:ea="Microsoft YaHei" a:latin="Microsoft YaHei">
                <a:solidFill>
                  <a:srgbClr val="111820"/>
                </a:solidFill>
                <a:latin typeface="Microsoft YaHei"/>
              </a:rPr>
              <a:t>安全、清晰、可维护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9" y="4450080"/>
            <a:ext cx="34137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a:ea="Microsoft YaHei" a:latin="Microsoft YaHei">
                <a:solidFill>
                  <a:srgbClr val="B84A45"/>
                </a:solidFill>
                <a:latin typeface="Microsoft YaHei"/>
              </a:rPr>
              <a:t>不穷尽所有行为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19" y="505968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1519" y="5791200"/>
            <a:ext cx="107289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75" b="1" a:ea="Microsoft YaHei" a:latin="Microsoft YaHei">
                <a:solidFill>
                  <a:srgbClr val="176B87"/>
                </a:solidFill>
                <a:latin typeface="Microsoft YaHei"/>
              </a:rPr>
              <a:t>四层互补；机器结果不能读成“全部正确”。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D7B35C"/>
                </a:solidFill>
                <a:latin typeface="Aptos"/>
              </a:rP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FBFAF6"/>
                </a:solidFill>
                <a:latin typeface="Microsoft YaHei"/>
              </a:rPr>
              <a:t>项目演示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FBFAF6"/>
                </a:solidFill>
                <a:latin typeface="Microsoft YaHei"/>
              </a:rPr>
              <a:t>演示原始需求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011680"/>
            <a:ext cx="61569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a:ea="Microsoft YaHei" a:latin="Microsoft YaHei">
                <a:solidFill>
                  <a:srgbClr val="D7B35C"/>
                </a:solidFill>
                <a:latin typeface="Microsoft YaHei"/>
              </a:rPr>
              <a:t>原始需求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560320"/>
            <a:ext cx="7071359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775" b="1" a:ea="Microsoft YaHei" a:latin="Microsoft YaHei">
                <a:solidFill>
                  <a:srgbClr val="FBFAF6"/>
                </a:solidFill>
                <a:latin typeface="Microsoft YaHei"/>
              </a:rPr>
              <a:t>“在提醒面板里让负责人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775" b="1" a:ea="Microsoft YaHei" a:latin="Microsoft YaHei">
                <a:solidFill>
                  <a:srgbClr val="FBFAF6"/>
                </a:solidFill>
                <a:latin typeface="Microsoft YaHei"/>
              </a:rPr>
              <a:t>配置临期窗口。”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19" y="2072640"/>
            <a:ext cx="3413759" cy="2438400"/>
          </a:xfrm>
          <a:prstGeom prst="rect">
            <a:avLst/>
          </a:prstGeom>
          <a:solidFill>
            <a:srgbClr val="F8F4E8"/>
          </a:solidFill>
          <a:ln w="9525">
            <a:solidFill>
              <a:srgbClr val="C8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19" y="2072640"/>
            <a:ext cx="3413759" cy="76200"/>
          </a:xfrm>
          <a:prstGeom prst="rect">
            <a:avLst/>
          </a:prstGeom>
          <a:solidFill>
            <a:srgbClr val="D7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0559" y="2316480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Microsoft YaHei">
                <a:solidFill>
                  <a:srgbClr val="56616D"/>
                </a:solidFill>
                <a:latin typeface="Microsoft YaHei"/>
              </a:rPr>
              <a:t>业务背景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0559" y="2743200"/>
            <a:ext cx="2926079" cy="1584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1" a:ea="Microsoft YaHei" a:latin="Microsoft YaHei">
                <a:solidFill>
                  <a:srgbClr val="111820"/>
                </a:solidFill>
                <a:latin typeface="Microsoft YaHei"/>
              </a:rPr>
              <a:t>临期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1" a:ea="Microsoft YaHei" a:latin="Microsoft YaHei">
                <a:solidFill>
                  <a:srgbClr val="111820"/>
                </a:solidFill>
                <a:latin typeface="Microsoft YaHei"/>
              </a:rPr>
              <a:t>今日到期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1" a:ea="Microsoft YaHei" a:latin="Microsoft YaHei">
                <a:solidFill>
                  <a:srgbClr val="111820"/>
                </a:solidFill>
                <a:latin typeface="Microsoft YaHei"/>
              </a:rPr>
              <a:t>已逾期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4815840"/>
            <a:ext cx="7071359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75" b="0" a:ea="Microsoft YaHei" a:latin="Microsoft YaHei">
                <a:solidFill>
                  <a:srgbClr val="C7D0CE"/>
                </a:solidFill>
                <a:latin typeface="Microsoft YaHei"/>
              </a:rPr>
              <a:t>一句话里，藏着五个可验证的歧义。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4876800"/>
            <a:ext cx="34137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a:ea="Microsoft YaHei" a:latin="Microsoft YaHei">
                <a:solidFill>
                  <a:srgbClr val="A8B6B5"/>
                </a:solidFill>
                <a:latin typeface="Microsoft YaHei"/>
              </a:rPr>
              <a:t>来自项目 · 范围小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a:ea="Microsoft YaHei" a:latin="Microsoft YaHei">
                <a:solidFill>
                  <a:srgbClr val="A8B6B5"/>
                </a:solidFill>
                <a:latin typeface="Microsoft YaHei"/>
              </a:rPr>
              <a:t>可观察 · 已脱敏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3341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91A0A5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项目演示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grill 澄清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950720"/>
            <a:ext cx="670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">
                <a:solidFill>
                  <a:srgbClr val="D7B35C"/>
                </a:solidFill>
                <a:latin typeface="Aptos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1950720"/>
            <a:ext cx="34137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75" b="1" a:ea="Microsoft YaHei" a:latin="Microsoft YaHei">
                <a:solidFill>
                  <a:srgbClr val="111820"/>
                </a:solidFill>
                <a:latin typeface="Microsoft YaHei"/>
              </a:rPr>
              <a:t>0 合法吗？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19" y="2087880"/>
            <a:ext cx="1584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19" y="1950720"/>
            <a:ext cx="43281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176B87"/>
                </a:solidFill>
                <a:latin typeface="Microsoft YaHei"/>
              </a:rPr>
              <a:t>合法；未来提醒不标临期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2987040"/>
            <a:ext cx="670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">
                <a:solidFill>
                  <a:srgbClr val="D7B35C"/>
                </a:solidFill>
                <a:latin typeface="Aptos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2987040"/>
            <a:ext cx="34137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75" b="1" a:ea="Microsoft YaHei" a:latin="Microsoft YaHei">
                <a:solidFill>
                  <a:srgbClr val="111820"/>
                </a:solidFill>
                <a:latin typeface="Microsoft YaHei"/>
              </a:rPr>
              <a:t>能填多大？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03519" y="3124200"/>
            <a:ext cx="1584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19" y="2987040"/>
            <a:ext cx="43281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176B87"/>
                </a:solidFill>
                <a:latin typeface="Microsoft YaHei"/>
              </a:rPr>
              <a:t>0..9007199254740991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4023360"/>
            <a:ext cx="670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">
                <a:solidFill>
                  <a:srgbClr val="D7B35C"/>
                </a:solidFill>
                <a:latin typeface="Aptos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4023360"/>
            <a:ext cx="34137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75" b="1" a:ea="Microsoft YaHei" a:latin="Microsoft YaHei">
                <a:solidFill>
                  <a:srgbClr val="111820"/>
                </a:solidFill>
                <a:latin typeface="Microsoft YaHei"/>
              </a:rPr>
              <a:t>何时生效？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03519" y="4160520"/>
            <a:ext cx="1584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19" y="4023360"/>
            <a:ext cx="43281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176B87"/>
                </a:solidFill>
                <a:latin typeface="Microsoft YaHei"/>
              </a:rPr>
              <a:t>显式保存后刷新并持久化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19" y="5181600"/>
            <a:ext cx="45719" cy="426720"/>
          </a:xfrm>
          <a:prstGeom prst="rect">
            <a:avLst/>
          </a:prstGeom>
          <a:solidFill>
            <a:srgbClr val="4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5359" y="5120640"/>
            <a:ext cx="98145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111820"/>
                </a:solidFill>
                <a:latin typeface="Microsoft YaHei"/>
              </a:rPr>
              <a:t>保存前不生效 · 保存后立即刷新 · 重开保持 · 提醒日期可见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项目演示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专用 training change / spec</a:t>
            </a:r>
          </a:p>
        </p:txBody>
      </p:sp>
      <p:sp>
        <p:nvSpPr>
          <p:cNvPr id="6" name="Rectangle 5"/>
          <p:cNvSpPr/>
          <p:nvPr/>
        </p:nvSpPr>
        <p:spPr>
          <a:xfrm>
            <a:off x="807719" y="2042160"/>
            <a:ext cx="6156959" cy="3596640"/>
          </a:xfrm>
          <a:prstGeom prst="rect">
            <a:avLst/>
          </a:prstGeom>
          <a:solidFill>
            <a:srgbClr val="E5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19" y="1950720"/>
            <a:ext cx="6156959" cy="3596640"/>
          </a:xfrm>
          <a:prstGeom prst="rect">
            <a:avLst/>
          </a:prstGeom>
          <a:solidFill>
            <a:srgbClr val="FBFAF6"/>
          </a:solidFill>
          <a:ln w="9525">
            <a:solidFill>
              <a:srgbClr val="C8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59" y="2133600"/>
            <a:ext cx="56692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25" b="0" a:ea="Microsoft YaHei" a:latin="Aptos Mono">
                <a:solidFill>
                  <a:srgbClr val="56616D"/>
                </a:solidFill>
                <a:latin typeface="Aptos Mono"/>
              </a:rPr>
              <a:t>docs/training/vibe-coding/training-change/spec.md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75359" y="2407920"/>
            <a:ext cx="566928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75359" y="2560320"/>
            <a:ext cx="5669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75" b="1" a:ea="Microsoft YaHei" a:latin="Microsoft YaHei">
                <a:solidFill>
                  <a:srgbClr val="111820"/>
                </a:solidFill>
                <a:latin typeface="Microsoft YaHei"/>
              </a:rPr>
              <a:t>Scenario: 临期窗口为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5359" y="3169920"/>
            <a:ext cx="60959" cy="60960"/>
          </a:xfrm>
          <a:prstGeom prst="rect">
            <a:avLst/>
          </a:prstGeom>
          <a:solidFill>
            <a:srgbClr val="4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8239" y="3108960"/>
            <a:ext cx="54863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a:ea="Microsoft YaHei" a:latin="Microsoft YaHei">
                <a:solidFill>
                  <a:srgbClr val="111820"/>
                </a:solidFill>
                <a:latin typeface="Microsoft YaHei"/>
              </a:rPr>
              <a:t>GIVEN 配置为 0 并显式保存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5359" y="3718560"/>
            <a:ext cx="60959" cy="60960"/>
          </a:xfrm>
          <a:prstGeom prst="rect">
            <a:avLst/>
          </a:prstGeom>
          <a:solidFill>
            <a:srgbClr val="4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8239" y="3657600"/>
            <a:ext cx="54863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a:ea="Microsoft YaHei" a:latin="Microsoft YaHei">
                <a:solidFill>
                  <a:srgbClr val="111820"/>
                </a:solidFill>
                <a:latin typeface="Microsoft YaHei"/>
              </a:rPr>
              <a:t>THEN 未来提醒不归入临期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5359" y="4267200"/>
            <a:ext cx="60959" cy="60960"/>
          </a:xfrm>
          <a:prstGeom prst="rect">
            <a:avLst/>
          </a:prstGeom>
          <a:solidFill>
            <a:srgbClr val="4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8239" y="4206240"/>
            <a:ext cx="54863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a:ea="Microsoft YaHei" a:latin="Microsoft YaHei">
                <a:solidFill>
                  <a:srgbClr val="111820"/>
                </a:solidFill>
                <a:latin typeface="Microsoft YaHei"/>
              </a:rPr>
              <a:t>AND 今日到期 / 已逾期不受影响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2011680"/>
            <a:ext cx="27431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Microsoft YaHei">
                <a:solidFill>
                  <a:srgbClr val="B84A45"/>
                </a:solidFill>
                <a:latin typeface="Microsoft YaHei"/>
              </a:rPr>
              <a:t>归档漂移 · 三条事实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2499360"/>
            <a:ext cx="3413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111820"/>
                </a:solidFill>
                <a:latin typeface="Microsoft YaHei"/>
              </a:rPr>
              <a:t>原 change 已归档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46719" y="2987040"/>
            <a:ext cx="34137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046719" y="3169920"/>
            <a:ext cx="3413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111820"/>
                </a:solidFill>
                <a:latin typeface="Microsoft YaHei"/>
              </a:rPr>
              <a:t>正式 spec 仍是旧版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46719" y="3657600"/>
            <a:ext cx="34137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046719" y="3840480"/>
            <a:ext cx="3413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111820"/>
                </a:solidFill>
                <a:latin typeface="Microsoft YaHei"/>
              </a:rPr>
              <a:t>最终实现未合入 main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046719" y="4328160"/>
            <a:ext cx="34137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046719" y="4572000"/>
            <a:ext cx="3413759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a:ea="Microsoft YaHei" a:latin="Aptos Mono">
                <a:solidFill>
                  <a:srgbClr val="56616D"/>
                </a:solidFill>
                <a:latin typeface="Aptos Mono"/>
              </a:rPr>
              <a:t>openspec/changes/archive/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a:ea="Microsoft YaHei" a:latin="Aptos Mono">
                <a:solidFill>
                  <a:srgbClr val="56616D"/>
                </a:solidFill>
                <a:latin typeface="Aptos Mono"/>
              </a:rPr>
              <a:t>2026-08-10-add-relocation-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a:ea="Microsoft YaHei" a:latin="Aptos Mono">
                <a:solidFill>
                  <a:srgbClr val="56616D"/>
                </a:solidFill>
                <a:latin typeface="Aptos Mono"/>
              </a:rPr>
              <a:t>service-workbench/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9" y="5303520"/>
            <a:ext cx="341375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1" a:ea="Microsoft YaHei" a:latin="Microsoft YaHei">
                <a:solidFill>
                  <a:srgbClr val="B84A45"/>
                </a:solidFill>
                <a:latin typeface="Microsoft YaHei"/>
              </a:rPr>
              <a:t>培训夹具，无产品批准语义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项目演示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Red 与 preset-failure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950720"/>
            <a:ext cx="5242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">
                <a:solidFill>
                  <a:srgbClr val="B84A45"/>
                </a:solidFill>
                <a:latin typeface="Aptos"/>
              </a:rPr>
              <a:t>RED-TEST · f771667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" y="2316480"/>
            <a:ext cx="5242559" cy="2560320"/>
          </a:xfrm>
          <a:prstGeom prst="roundRect">
            <a:avLst/>
          </a:prstGeom>
          <a:solidFill>
            <a:srgbClr val="17212A"/>
          </a:solidFill>
          <a:ln w="9525">
            <a:solidFill>
              <a:srgbClr val="2B3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19" y="2316480"/>
            <a:ext cx="5242559" cy="335280"/>
          </a:xfrm>
          <a:prstGeom prst="rect">
            <a:avLst/>
          </a:prstGeom>
          <a:solidFill>
            <a:srgbClr val="222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399" y="2377440"/>
            <a:ext cx="48767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25" b="0" a:ea="Microsoft YaHei" a:latin="Aptos">
                <a:solidFill>
                  <a:srgbClr val="9BAAA5"/>
                </a:solidFill>
                <a:latin typeface="Aptos"/>
              </a:rPr>
              <a:t>historical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879" y="2865120"/>
            <a:ext cx="48158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B9D7C0"/>
                </a:solidFill>
                <a:latin typeface="Aptos Mono"/>
              </a:rPr>
              <a:t>domain + integration   32 passed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879" y="3169920"/>
            <a:ext cx="48158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E8A6A0"/>
                </a:solidFill>
                <a:latin typeface="Aptos Mono"/>
              </a:rPr>
              <a:t>main                  2 failed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879" y="3413760"/>
            <a:ext cx="48158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E8A6A0"/>
                </a:solidFill>
                <a:latin typeface="Aptos Mono"/>
              </a:rPr>
              <a:t>V2_MUTATION_UNKNOWN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79" y="3718560"/>
            <a:ext cx="48158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E8A6A0"/>
                </a:solidFill>
                <a:latin typeface="Aptos Mono"/>
              </a:rPr>
              <a:t>renderer              1 failed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879" y="4023360"/>
            <a:ext cx="48158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E8A6A0"/>
                </a:solidFill>
                <a:latin typeface="Aptos Mono"/>
              </a:rPr>
              <a:t>未找到“临期窗口”控件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19" y="1950720"/>
            <a:ext cx="5242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a:ea="Microsoft YaHei" a:latin="Aptos">
                <a:solidFill>
                  <a:srgbClr val="B84A45"/>
                </a:solidFill>
                <a:latin typeface="Aptos"/>
              </a:rPr>
              <a:t>PRESET-FAILURE · 0554164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19" y="2316480"/>
            <a:ext cx="5242559" cy="2560320"/>
          </a:xfrm>
          <a:prstGeom prst="roundRect">
            <a:avLst/>
          </a:prstGeom>
          <a:solidFill>
            <a:srgbClr val="17212A"/>
          </a:solidFill>
          <a:ln w="9525">
            <a:solidFill>
              <a:srgbClr val="2B3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19" y="2316480"/>
            <a:ext cx="5242559" cy="335280"/>
          </a:xfrm>
          <a:prstGeom prst="rect">
            <a:avLst/>
          </a:prstGeom>
          <a:solidFill>
            <a:srgbClr val="222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799" y="2377440"/>
            <a:ext cx="48767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25" b="0" a:ea="Microsoft YaHei" a:latin="Aptos">
                <a:solidFill>
                  <a:srgbClr val="9BAAA5"/>
                </a:solidFill>
                <a:latin typeface="Aptos"/>
              </a:rPr>
              <a:t>historical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1279" y="2865120"/>
            <a:ext cx="48158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B9D7C0"/>
                </a:solidFill>
                <a:latin typeface="Aptos Mono"/>
              </a:rPr>
              <a:t>IPC / facade / UI     connected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1279" y="3169920"/>
            <a:ext cx="48158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E8A6A0"/>
                </a:solidFill>
                <a:latin typeface="Aptos Mono"/>
              </a:rPr>
              <a:t>0 case                failed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1279" y="3413760"/>
            <a:ext cx="48158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E8A6A0"/>
                </a:solidFill>
                <a:latin typeface="Aptos Mono"/>
              </a:rPr>
              <a:t>“必须不小于 1”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1279" y="3718560"/>
            <a:ext cx="48158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B9D7C0"/>
                </a:solidFill>
                <a:latin typeface="Aptos Mono"/>
              </a:rPr>
              <a:t>negative / fraction   rejected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1279" y="4023360"/>
            <a:ext cx="48158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E8A6A0"/>
                </a:solidFill>
                <a:latin typeface="Aptos Mono"/>
              </a:rPr>
              <a:t>renderer: mutation not called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" y="5303520"/>
            <a:ext cx="10728959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a:ea="Microsoft YaHei" a:latin="Microsoft YaHei">
                <a:solidFill>
                  <a:srgbClr val="111820"/>
                </a:solidFill>
                <a:latin typeface="Microsoft YaHei"/>
              </a:rPr>
              <a:t>红：行为已经写明，实现还没跟上。表面能点，也可能做错。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项目演示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Green / review / verify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19" y="1950720"/>
            <a:ext cx="4328159" cy="2438400"/>
          </a:xfrm>
          <a:prstGeom prst="roundRect">
            <a:avLst/>
          </a:prstGeom>
          <a:solidFill>
            <a:srgbClr val="17212A"/>
          </a:solidFill>
          <a:ln w="9525">
            <a:solidFill>
              <a:srgbClr val="2B3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19" y="1950720"/>
            <a:ext cx="4328159" cy="335280"/>
          </a:xfrm>
          <a:prstGeom prst="rect">
            <a:avLst/>
          </a:prstGeom>
          <a:solidFill>
            <a:srgbClr val="222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399" y="2011680"/>
            <a:ext cx="39623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25" b="0" a:ea="Microsoft YaHei" a:latin="Aptos">
                <a:solidFill>
                  <a:srgbClr val="9BAAA5"/>
                </a:solidFill>
                <a:latin typeface="Aptos"/>
              </a:rPr>
              <a:t>green-final · d304bd5 · historical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79" y="2499360"/>
            <a:ext cx="39014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B9D7C0"/>
                </a:solidFill>
                <a:latin typeface="Aptos Mono"/>
              </a:rPr>
              <a:t>focused       95 passed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879" y="2804160"/>
            <a:ext cx="39014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B9D7C0"/>
                </a:solidFill>
                <a:latin typeface="Aptos Mono"/>
              </a:rPr>
              <a:t>full          1076 passed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879" y="3048000"/>
            <a:ext cx="39014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B9D7C0"/>
                </a:solidFill>
                <a:latin typeface="Aptos Mono"/>
              </a:rPr>
              <a:t>strict        valid (structure)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879" y="3352800"/>
            <a:ext cx="39014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B9D7C0"/>
                </a:solidFill>
                <a:latin typeface="Aptos Mono"/>
              </a:rPr>
              <a:t>e2e build     passed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79" y="3657600"/>
            <a:ext cx="3901439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5" b="0" a:ea="Microsoft YaHei" a:latin="Aptos Mono">
                <a:solidFill>
                  <a:srgbClr val="B9D7C0"/>
                </a:solidFill>
                <a:latin typeface="Aptos Mono"/>
              </a:rPr>
              <a:t>layout E2E    1 /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4119" y="2042160"/>
            <a:ext cx="5242559" cy="2438400"/>
          </a:xfrm>
          <a:prstGeom prst="rect">
            <a:avLst/>
          </a:prstGeom>
          <a:solidFill>
            <a:srgbClr val="E5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19" y="1950720"/>
            <a:ext cx="5242559" cy="2438400"/>
          </a:xfrm>
          <a:prstGeom prst="rect">
            <a:avLst/>
          </a:prstGeom>
          <a:solidFill>
            <a:srgbClr val="FBFAF6"/>
          </a:solidFill>
          <a:ln w="9525">
            <a:solidFill>
              <a:srgbClr val="C8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759" y="2133600"/>
            <a:ext cx="4754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25" b="0" a:ea="Microsoft YaHei" a:latin="Aptos Mono">
                <a:solidFill>
                  <a:srgbClr val="56616D"/>
                </a:solidFill>
                <a:latin typeface="Aptos Mono"/>
              </a:rPr>
              <a:t>review / historical ledger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61759" y="2407920"/>
            <a:ext cx="475488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61759" y="2560320"/>
            <a:ext cx="4754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75" b="1" a:ea="Microsoft YaHei" a:latin="Microsoft YaHei">
                <a:solidFill>
                  <a:srgbClr val="111820"/>
                </a:solidFill>
                <a:latin typeface="Microsoft YaHei"/>
              </a:rPr>
              <a:t>质量门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61759" y="3169920"/>
            <a:ext cx="60959" cy="60960"/>
          </a:xfrm>
          <a:prstGeom prst="rect">
            <a:avLst/>
          </a:prstGeom>
          <a:solidFill>
            <a:srgbClr val="4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4639" y="3108960"/>
            <a:ext cx="45719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a:ea="Microsoft YaHei" a:latin="Microsoft YaHei">
                <a:solidFill>
                  <a:srgbClr val="111820"/>
                </a:solidFill>
                <a:latin typeface="Microsoft YaHei"/>
              </a:rPr>
              <a:t>2 个 medium 已修正；2 个既有 low 保留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61759" y="3718560"/>
            <a:ext cx="60959" cy="60960"/>
          </a:xfrm>
          <a:prstGeom prst="rect">
            <a:avLst/>
          </a:prstGeom>
          <a:solidFill>
            <a:srgbClr val="4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4639" y="3657600"/>
            <a:ext cx="45719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a:ea="Microsoft YaHei" a:latin="Microsoft YaHei">
                <a:solidFill>
                  <a:srgbClr val="111820"/>
                </a:solidFill>
                <a:latin typeface="Microsoft YaHei"/>
              </a:rPr>
              <a:t>最后三项修正后未做第三轮独立 Oracle 评审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61759" y="4267200"/>
            <a:ext cx="60959" cy="60960"/>
          </a:xfrm>
          <a:prstGeom prst="rect">
            <a:avLst/>
          </a:prstGeom>
          <a:solidFill>
            <a:srgbClr val="4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4639" y="4206240"/>
            <a:ext cx="45719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a:ea="Microsoft YaHei" a:latin="Microsoft YaHei">
                <a:solidFill>
                  <a:srgbClr val="111820"/>
                </a:solidFill>
                <a:latin typeface="Microsoft YaHei"/>
              </a:rPr>
              <a:t>当前是课程内容终审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19" y="4632960"/>
            <a:ext cx="6156959" cy="914400"/>
          </a:xfrm>
          <a:prstGeom prst="rect">
            <a:avLst/>
          </a:prstGeom>
          <a:solidFill>
            <a:srgbClr val="E8EEE9"/>
          </a:solidFill>
          <a:ln w="19050">
            <a:solidFill>
              <a:srgbClr val="4F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399" y="4754880"/>
            <a:ext cx="5791199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a:ea="Microsoft YaHei" a:latin="Microsoft YaHei">
                <a:solidFill>
                  <a:srgbClr val="111820"/>
                </a:solidFill>
                <a:latin typeface="Microsoft YaHei"/>
              </a:rPr>
              <a:t>UI：填 0 → 保存 → 立即刷新 → 日期可见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a:ea="Microsoft YaHei" a:latin="Microsoft YaHei">
                <a:solidFill>
                  <a:srgbClr val="111820"/>
                </a:solidFill>
                <a:latin typeface="Microsoft YaHei"/>
              </a:rPr>
              <a:t>今日到期 / 已逾期不变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19" y="4632960"/>
            <a:ext cx="3413759" cy="914400"/>
          </a:xfrm>
          <a:prstGeom prst="rect">
            <a:avLst/>
          </a:prstGeom>
          <a:solidFill>
            <a:srgbClr val="F7EDE8"/>
          </a:solidFill>
          <a:ln w="19050">
            <a:solidFill>
              <a:srgbClr val="B84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9" y="4754880"/>
            <a:ext cx="3047999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a:ea="Microsoft YaHei" a:latin="Microsoft YaHei">
                <a:solidFill>
                  <a:srgbClr val="B84A45"/>
                </a:solidFill>
                <a:latin typeface="Microsoft YaHei"/>
              </a:rPr>
              <a:t>strict：2026-08-10 历史摘要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a:ea="Microsoft YaHei" a:latin="Microsoft YaHei">
                <a:solidFill>
                  <a:srgbClr val="B84A45"/>
                </a:solidFill>
                <a:latin typeface="Microsoft YaHei"/>
              </a:rPr>
              <a:t>规范映射：历史人工 / 等效核对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a:ea="Microsoft YaHei" a:latin="Microsoft YaHei">
                <a:solidFill>
                  <a:srgbClr val="B84A45"/>
                </a:solidFill>
                <a:latin typeface="Microsoft YaHei"/>
              </a:rPr>
              <a:t>当时未运行 /opsx-verify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158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a:ea="Microsoft YaHei" a:latin="Aptos">
                <a:solidFill>
                  <a:srgbClr val="176B87"/>
                </a:solidFill>
                <a:latin typeface="Aptos"/>
              </a:rPr>
              <a:t>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548640"/>
            <a:ext cx="43281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Microsoft YaHei">
                <a:solidFill>
                  <a:srgbClr val="56616D"/>
                </a:solidFill>
                <a:latin typeface="Microsoft YaHei"/>
              </a:rPr>
              <a:t>日常落地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53440"/>
            <a:ext cx="8900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a:ea="Microsoft YaHei" a:latin="Microsoft YaHei">
                <a:solidFill>
                  <a:srgbClr val="111820"/>
                </a:solidFill>
                <a:latin typeface="Microsoft YaHei"/>
              </a:rPr>
              <a:t>日常落地 / 风险适配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950720"/>
            <a:ext cx="670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75" b="1" a:ea="Microsoft YaHei" a:latin="Aptos">
                <a:solidFill>
                  <a:srgbClr val="176B87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255520"/>
            <a:ext cx="2499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111820"/>
                </a:solidFill>
                <a:latin typeface="Microsoft YaHei"/>
              </a:rPr>
              <a:t>先文档后提问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19" y="1950720"/>
            <a:ext cx="670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75" b="1" a:ea="Microsoft YaHei" a:latin="Aptos">
                <a:solidFill>
                  <a:srgbClr val="176B87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19" y="2255520"/>
            <a:ext cx="2499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111820"/>
                </a:solidFill>
                <a:latin typeface="Microsoft YaHei"/>
              </a:rPr>
              <a:t>写清约定与证据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9" y="1950720"/>
            <a:ext cx="670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75" b="1" a:ea="Microsoft YaHei" a:latin="Aptos">
                <a:solidFill>
                  <a:srgbClr val="176B87"/>
                </a:solidFill>
                <a:latin typeface="Apto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2255520"/>
            <a:ext cx="2499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111820"/>
                </a:solidFill>
                <a:latin typeface="Microsoft YaHei"/>
              </a:rPr>
              <a:t>TDD 先红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2865120"/>
            <a:ext cx="670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75" b="1" a:ea="Microsoft YaHei" a:latin="Aptos">
                <a:solidFill>
                  <a:srgbClr val="176B87"/>
                </a:solidFill>
                <a:latin typeface="Aptos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3169920"/>
            <a:ext cx="2499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111820"/>
                </a:solidFill>
                <a:latin typeface="Microsoft YaHei"/>
              </a:rPr>
              <a:t>diff 把关再绿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2865120"/>
            <a:ext cx="670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75" b="1" a:ea="Microsoft YaHei" a:latin="Aptos">
                <a:solidFill>
                  <a:srgbClr val="176B87"/>
                </a:solidFill>
                <a:latin typeface="Aptos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19" y="3169920"/>
            <a:ext cx="2499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111820"/>
                </a:solidFill>
                <a:latin typeface="Microsoft YaHei"/>
              </a:rPr>
              <a:t>review 看质量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2865120"/>
            <a:ext cx="670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75" b="1" a:ea="Microsoft YaHei" a:latin="Aptos">
                <a:solidFill>
                  <a:srgbClr val="176B87"/>
                </a:solidFill>
                <a:latin typeface="Aptos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3169920"/>
            <a:ext cx="2499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50" b="1" a:ea="Microsoft YaHei" a:latin="Microsoft YaHei">
                <a:solidFill>
                  <a:srgbClr val="111820"/>
                </a:solidFill>
                <a:latin typeface="Microsoft YaHei"/>
              </a:rPr>
              <a:t>verify 对约定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19" y="3962399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19" y="4267200"/>
            <a:ext cx="670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a:ea="Microsoft YaHei" a:latin="Microsoft YaHei">
                <a:solidFill>
                  <a:srgbClr val="176B87"/>
                </a:solidFill>
                <a:latin typeface="Microsoft YaHei"/>
              </a:rPr>
              <a:t>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19" y="4267200"/>
            <a:ext cx="61569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75" b="0" a:ea="Microsoft YaHei" a:latin="Microsoft YaHei">
                <a:solidFill>
                  <a:srgbClr val="111820"/>
                </a:solidFill>
                <a:latin typeface="Microsoft YaHei"/>
              </a:rPr>
              <a:t>简短约定 + 聚焦验证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" y="4754880"/>
            <a:ext cx="670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a:ea="Microsoft YaHei" a:latin="Microsoft YaHei">
                <a:solidFill>
                  <a:srgbClr val="176B87"/>
                </a:solidFill>
                <a:latin typeface="Microsoft YaHei"/>
              </a:rPr>
              <a:t>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19" y="4754880"/>
            <a:ext cx="61569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75" b="0" a:ea="Microsoft YaHei" a:latin="Microsoft YaHei">
                <a:solidFill>
                  <a:srgbClr val="111820"/>
                </a:solidFill>
                <a:latin typeface="Microsoft YaHei"/>
              </a:rPr>
              <a:t>加深文档 / 测试 /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19" y="5242560"/>
            <a:ext cx="6705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a:ea="Microsoft YaHei" a:latin="Microsoft YaHei">
                <a:solidFill>
                  <a:srgbClr val="B84A45"/>
                </a:solidFill>
                <a:latin typeface="Microsoft YaHei"/>
              </a:rPr>
              <a:t>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19" y="5242560"/>
            <a:ext cx="61569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75" b="0" a:ea="Microsoft YaHei" a:latin="Microsoft YaHei">
                <a:solidFill>
                  <a:srgbClr val="111820"/>
                </a:solidFill>
                <a:latin typeface="Microsoft YaHei"/>
              </a:rPr>
              <a:t>人工确认 + 完整证据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19" y="4267200"/>
            <a:ext cx="2499359" cy="975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725" b="1" a:ea="Microsoft YaHei" a:latin="Microsoft YaHei">
                <a:solidFill>
                  <a:srgbClr val="4F7A57"/>
                </a:solidFill>
                <a:latin typeface="Microsoft YaHei"/>
              </a:rPr>
              <a:t>目标、边界、证据</a:t>
            </a:r>
          </a:p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725" b="1" a:ea="Microsoft YaHei" a:latin="Microsoft YaHei">
                <a:solidFill>
                  <a:srgbClr val="4F7A57"/>
                </a:solidFill>
                <a:latin typeface="Microsoft YaHei"/>
              </a:rPr>
              <a:t>任何强度都不能省。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19" y="5730240"/>
            <a:ext cx="70713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a:ea="Microsoft YaHei" a:latin="Aptos Mono">
                <a:solidFill>
                  <a:srgbClr val="56616D"/>
                </a:solidFill>
                <a:latin typeface="Aptos Mono"/>
              </a:rPr>
              <a:t>跨 shared IPC / main / renderer：集成风险按中等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1519" y="6400800"/>
            <a:ext cx="10728960" cy="0"/>
          </a:xfrm>
          <a:prstGeom prst="line">
            <a:avLst/>
          </a:prstGeom>
          <a:ln w="9525">
            <a:solidFill>
              <a:srgbClr val="C8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1094719" y="646176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56616D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670560"/>
            <a:ext cx="249935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75" b="1" a:ea="Microsoft YaHei" a:latin="Aptos">
                <a:solidFill>
                  <a:srgbClr val="D7B35C"/>
                </a:solidFill>
                <a:latin typeface="Aptos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19" y="1402080"/>
            <a:ext cx="7071359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25" b="1" a:ea="Microsoft YaHei" a:latin="Microsoft YaHei">
                <a:solidFill>
                  <a:srgbClr val="FBFAF6"/>
                </a:solidFill>
                <a:latin typeface="Microsoft YaHei"/>
              </a:rPr>
              <a:t>先答共性，再记个性。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2377440"/>
            <a:ext cx="61569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75" b="0" a:ea="Microsoft YaHei" a:latin="Microsoft YaHei">
                <a:solidFill>
                  <a:srgbClr val="C1CBCA"/>
                </a:solidFill>
                <a:latin typeface="Microsoft YaHei"/>
              </a:rPr>
              <a:t>个人配置与扩展问题进入待答问题池，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75" b="0" a:ea="Microsoft YaHei" a:latin="Microsoft YaHei">
                <a:solidFill>
                  <a:srgbClr val="C1CBCA"/>
                </a:solidFill>
                <a:latin typeface="Microsoft YaHei"/>
              </a:rPr>
              <a:t>会后书面处理。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19" y="3474720"/>
            <a:ext cx="10728960" cy="0"/>
          </a:xfrm>
          <a:prstGeom prst="line">
            <a:avLst/>
          </a:prstGeom>
          <a:ln w="9525">
            <a:solidFill>
              <a:srgbClr val="465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19" y="4023360"/>
            <a:ext cx="2499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25" b="1" a:ea="Microsoft YaHei" a:latin="Microsoft YaHei">
                <a:solidFill>
                  <a:srgbClr val="FBFAF6"/>
                </a:solidFill>
                <a:latin typeface="Microsoft YaHei"/>
              </a:rPr>
              <a:t>受控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19" y="4693920"/>
            <a:ext cx="2499360" cy="0"/>
          </a:xfrm>
          <a:prstGeom prst="line">
            <a:avLst/>
          </a:prstGeom>
          <a:ln w="28575">
            <a:solidFill>
              <a:srgbClr val="5966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389119" y="4023360"/>
            <a:ext cx="2499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25" b="1" a:ea="Microsoft YaHei" a:latin="Microsoft YaHei">
                <a:solidFill>
                  <a:srgbClr val="FBFAF6"/>
                </a:solidFill>
                <a:latin typeface="Microsoft YaHei"/>
              </a:rPr>
              <a:t>证据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89119" y="4693920"/>
            <a:ext cx="2499360" cy="0"/>
          </a:xfrm>
          <a:prstGeom prst="line">
            <a:avLst/>
          </a:prstGeom>
          <a:ln w="28575">
            <a:solidFill>
              <a:srgbClr val="D7B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46719" y="4023360"/>
            <a:ext cx="2499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25" b="1" a:ea="Microsoft YaHei" a:latin="Microsoft YaHei">
                <a:solidFill>
                  <a:srgbClr val="FBFAF6"/>
                </a:solidFill>
                <a:latin typeface="Microsoft YaHei"/>
              </a:rPr>
              <a:t>闭环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46719" y="4693920"/>
            <a:ext cx="2499360" cy="0"/>
          </a:xfrm>
          <a:prstGeom prst="line">
            <a:avLst/>
          </a:prstGeom>
          <a:ln w="28575">
            <a:solidFill>
              <a:srgbClr val="5966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19" y="5425440"/>
            <a:ext cx="89001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a:ea="Microsoft YaHei" a:latin="Microsoft YaHei">
                <a:solidFill>
                  <a:srgbClr val="D6DEDB"/>
                </a:solidFill>
                <a:latin typeface="Microsoft YaHei"/>
              </a:rPr>
              <a:t>明天开始：先写目标、边界和验收证据，再打开会话。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719" y="6400800"/>
            <a:ext cx="3657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75" b="0" a:ea="Microsoft YaHei" a:latin="Aptos">
                <a:solidFill>
                  <a:srgbClr val="91A0A5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