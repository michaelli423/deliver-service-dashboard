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INTERNAL SHARE · 60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1325880"/>
            <a:ext cx="6476999" cy="990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150" b="1" a:ea="Microsoft YaHei" a:latin="Aptos">
                <a:solidFill>
                  <a:srgbClr val="F1F8FF"/>
                </a:solidFill>
                <a:latin typeface="Aptos"/>
              </a:rPr>
              <a:t>Vibe Coding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559" y="2453640"/>
            <a:ext cx="5486399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a:ea="Microsoft YaHei" a:latin="Aptos">
                <a:solidFill>
                  <a:srgbClr val="38D6FF"/>
                </a:solidFill>
                <a:latin typeface="Microsoft YaHei"/>
              </a:rPr>
              <a:t>从需求到证据的受控开发闭环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70559" y="3276600"/>
            <a:ext cx="4892040" cy="0"/>
          </a:xfrm>
          <a:prstGeom prst="line">
            <a:avLst/>
          </a:prstGeom>
          <a:ln w="1778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0559" y="3550920"/>
            <a:ext cx="1600199" cy="320040"/>
          </a:xfrm>
          <a:prstGeom prst="roundRect">
            <a:avLst>
              <a:gd name="adj" fmla="val 25000"/>
            </a:avLst>
          </a:prstGeom>
          <a:solidFill>
            <a:srgbClr val="142B43"/>
          </a:solidFill>
          <a:ln w="10668">
            <a:solidFill>
              <a:srgbClr val="C7F3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559" y="3558540"/>
            <a:ext cx="160019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C7F36B"/>
                </a:solidFill>
                <a:latin typeface="Microsoft YaHei"/>
              </a:rPr>
              <a:t>60 分钟内部分享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559" y="4130040"/>
            <a:ext cx="4343399" cy="472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0" a:ea="Microsoft YaHei" a:latin="Aptos">
                <a:solidFill>
                  <a:srgbClr val="8EA6BA"/>
                </a:solidFill>
                <a:latin typeface="Microsoft YaHei"/>
              </a:rPr>
              <a:t>人握方向盘，证据定结论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7929465" y="1827173"/>
            <a:ext cx="557791" cy="664749"/>
          </a:xfrm>
          <a:prstGeom prst="line">
            <a:avLst/>
          </a:prstGeom>
          <a:ln w="7112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86721" y="1573796"/>
            <a:ext cx="867636" cy="15144"/>
          </a:xfrm>
          <a:prstGeom prst="line">
            <a:avLst/>
          </a:prstGeom>
          <a:ln w="7112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61832" y="1794452"/>
            <a:ext cx="580651" cy="644878"/>
          </a:xfrm>
          <a:prstGeom prst="line">
            <a:avLst/>
          </a:prstGeom>
          <a:ln w="7112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003130" y="2967090"/>
            <a:ext cx="105755" cy="861300"/>
          </a:xfrm>
          <a:prstGeom prst="line">
            <a:avLst/>
          </a:prstGeom>
          <a:ln w="7112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9994582" y="4300217"/>
            <a:ext cx="719412" cy="485250"/>
          </a:xfrm>
          <a:prstGeom prst="line">
            <a:avLst/>
          </a:prstGeom>
          <a:ln w="71120">
            <a:solidFill>
              <a:srgbClr val="4A8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8610599" y="4652204"/>
            <a:ext cx="838200" cy="224596"/>
          </a:xfrm>
          <a:prstGeom prst="line">
            <a:avLst/>
          </a:prstGeom>
          <a:ln w="71120">
            <a:solidFill>
              <a:srgbClr val="4A8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0469879" y="4221480"/>
            <a:ext cx="320039" cy="32004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9" y="4168140"/>
            <a:ext cx="411479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 a:ea="Microsoft YaHei" a:latin="Aptos">
                <a:solidFill>
                  <a:srgbClr val="07111F"/>
                </a:solidFill>
                <a:latin typeface="Microsoft YaHei"/>
              </a:rPr>
              <a:t>✓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开场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02 · TERM RESET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先纠偏，再谈效率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79" y="1866899"/>
            <a:ext cx="2743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5250" b="1" a:ea="Microsoft YaHei" a:latin="Aptos">
                <a:solidFill>
                  <a:srgbClr val="FF6D7A"/>
                </a:solidFill>
                <a:latin typeface="Microsoft YaHei"/>
              </a:rPr>
              <a:t>不是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39" y="2895600"/>
            <a:ext cx="4419599" cy="1295400"/>
          </a:xfrm>
          <a:prstGeom prst="roundRect">
            <a:avLst>
              <a:gd name="adj" fmla="val 12941"/>
            </a:avLst>
          </a:prstGeom>
          <a:solidFill>
            <a:srgbClr val="102237"/>
          </a:solidFill>
          <a:ln w="17780">
            <a:solidFill>
              <a:srgbClr val="FF6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159" y="3124200"/>
            <a:ext cx="3886199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325" b="1" a:ea="Microsoft YaHei" a:latin="Aptos">
                <a:solidFill>
                  <a:srgbClr val="F1F8FF"/>
                </a:solidFill>
                <a:latin typeface="Microsoft YaHei"/>
              </a:rPr>
              <a:t>“凭感觉接受输出”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159" y="3695700"/>
            <a:ext cx="3581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75" b="0" a:ea="Microsoft YaHei" a:latin="Aptos">
                <a:solidFill>
                  <a:srgbClr val="8EA6BA"/>
                </a:solidFill>
                <a:latin typeface="Microsoft YaHei"/>
              </a:rPr>
              <a:t>输出 ≠ 结论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33999" y="3543300"/>
            <a:ext cx="1371600" cy="0"/>
          </a:xfrm>
          <a:prstGeom prst="line">
            <a:avLst/>
          </a:prstGeom>
          <a:ln w="3556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6655307" y="3493008"/>
            <a:ext cx="100584" cy="100584"/>
          </a:xfrm>
          <a:prstGeom prst="triangle">
            <a:avLst/>
          </a:prstGeom>
          <a:solidFill>
            <a:srgbClr val="38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24699" y="1866899"/>
            <a:ext cx="36575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5250" b="1" a:ea="Microsoft YaHei" a:latin="Aptos">
                <a:solidFill>
                  <a:srgbClr val="38D6FF"/>
                </a:solidFill>
                <a:latin typeface="Microsoft YaHei"/>
              </a:rPr>
              <a:t>而是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599" y="2895600"/>
            <a:ext cx="3809999" cy="1295400"/>
          </a:xfrm>
          <a:prstGeom prst="roundRect">
            <a:avLst>
              <a:gd name="adj" fmla="val 12941"/>
            </a:avLst>
          </a:prstGeom>
          <a:solidFill>
            <a:srgbClr val="102237"/>
          </a:solidFill>
          <a:ln w="17780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19" y="3124200"/>
            <a:ext cx="3276599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325" b="1" a:ea="Microsoft YaHei" a:latin="Aptos">
                <a:solidFill>
                  <a:srgbClr val="F1F8FF"/>
                </a:solidFill>
                <a:latin typeface="Microsoft YaHei"/>
              </a:rPr>
              <a:t>受控 AI 辅助开发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19" y="3695700"/>
            <a:ext cx="3200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75" b="0" a:ea="Microsoft YaHei" a:latin="Aptos">
                <a:solidFill>
                  <a:srgbClr val="C7F36B"/>
                </a:solidFill>
                <a:latin typeface="Microsoft YaHei"/>
              </a:rPr>
              <a:t>证据 → 决策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概念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03 · CONTROL SPLIT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人定方向，AI 提速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839" y="1828800"/>
            <a:ext cx="4952999" cy="3657600"/>
          </a:xfrm>
          <a:prstGeom prst="roundRect">
            <a:avLst>
              <a:gd name="adj" fmla="val 5833"/>
            </a:avLst>
          </a:prstGeom>
          <a:solidFill>
            <a:srgbClr val="102237"/>
          </a:solidFill>
          <a:ln w="17780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39" y="2095499"/>
            <a:ext cx="403859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50" b="1" a:ea="Microsoft YaHei" a:latin="Aptos">
                <a:solidFill>
                  <a:srgbClr val="38D6FF"/>
                </a:solidFill>
                <a:latin typeface="Aptos"/>
              </a:rPr>
              <a:t>HUMAN / 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39" y="2636520"/>
            <a:ext cx="39623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900" b="1" a:ea="Microsoft YaHei" a:latin="Aptos">
                <a:solidFill>
                  <a:srgbClr val="F1F8FF"/>
                </a:solidFill>
                <a:latin typeface="Microsoft YaHei"/>
              </a:rPr>
              <a:t>掌舵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9639" y="3535680"/>
            <a:ext cx="1600199" cy="320040"/>
          </a:xfrm>
          <a:prstGeom prst="roundRect">
            <a:avLst>
              <a:gd name="adj" fmla="val 25000"/>
            </a:avLst>
          </a:prstGeom>
          <a:solidFill>
            <a:srgbClr val="091625"/>
          </a:solidFill>
          <a:ln w="10668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639" y="3543300"/>
            <a:ext cx="160019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38D6FF"/>
                </a:solidFill>
                <a:latin typeface="Microsoft YaHei"/>
              </a:rPr>
              <a:t>目标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39" y="3535680"/>
            <a:ext cx="1600199" cy="320040"/>
          </a:xfrm>
          <a:prstGeom prst="roundRect">
            <a:avLst>
              <a:gd name="adj" fmla="val 25000"/>
            </a:avLst>
          </a:prstGeom>
          <a:solidFill>
            <a:srgbClr val="091625"/>
          </a:solidFill>
          <a:ln w="10668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4639" y="3543300"/>
            <a:ext cx="160019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38D6FF"/>
                </a:solidFill>
                <a:latin typeface="Microsoft YaHei"/>
              </a:rPr>
              <a:t>约束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9639" y="4130040"/>
            <a:ext cx="1600199" cy="320040"/>
          </a:xfrm>
          <a:prstGeom prst="roundRect">
            <a:avLst>
              <a:gd name="adj" fmla="val 25000"/>
            </a:avLst>
          </a:prstGeom>
          <a:solidFill>
            <a:srgbClr val="091625"/>
          </a:solidFill>
          <a:ln w="10668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639" y="4137660"/>
            <a:ext cx="160019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38D6FF"/>
                </a:solidFill>
                <a:latin typeface="Microsoft YaHei"/>
              </a:rPr>
              <a:t>决策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34639" y="4130040"/>
            <a:ext cx="1600199" cy="320040"/>
          </a:xfrm>
          <a:prstGeom prst="roundRect">
            <a:avLst>
              <a:gd name="adj" fmla="val 25000"/>
            </a:avLst>
          </a:prstGeom>
          <a:solidFill>
            <a:srgbClr val="091625"/>
          </a:solidFill>
          <a:ln w="10668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4639" y="4137660"/>
            <a:ext cx="160019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38D6FF"/>
                </a:solidFill>
                <a:latin typeface="Microsoft YaHei"/>
              </a:rPr>
              <a:t>证据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19799" y="1828800"/>
            <a:ext cx="5547359" cy="3657600"/>
          </a:xfrm>
          <a:prstGeom prst="roundRect">
            <a:avLst>
              <a:gd name="adj" fmla="val 5833"/>
            </a:avLst>
          </a:prstGeom>
          <a:solidFill>
            <a:srgbClr val="102237"/>
          </a:solidFill>
          <a:ln w="17780">
            <a:solidFill>
              <a:srgbClr val="4A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4599" y="2095499"/>
            <a:ext cx="457199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50" b="1" a:ea="Microsoft YaHei" a:latin="Aptos">
                <a:solidFill>
                  <a:srgbClr val="4A88FF"/>
                </a:solidFill>
                <a:latin typeface="Aptos"/>
              </a:rPr>
              <a:t>AI / 辅助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4599" y="2636520"/>
            <a:ext cx="40385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900" b="1" a:ea="Microsoft YaHei" a:latin="Aptos">
                <a:solidFill>
                  <a:srgbClr val="F1F8FF"/>
                </a:solidFill>
                <a:latin typeface="Microsoft YaHei"/>
              </a:rPr>
              <a:t>副驾驶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24599" y="3550920"/>
            <a:ext cx="2285999" cy="1143000"/>
          </a:xfrm>
          <a:prstGeom prst="roundRect">
            <a:avLst>
              <a:gd name="adj" fmla="val 14666"/>
            </a:avLst>
          </a:prstGeom>
          <a:solidFill>
            <a:srgbClr val="102237"/>
          </a:solidFill>
          <a:ln w="13334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24599" y="3550920"/>
            <a:ext cx="53339" cy="1143000"/>
          </a:xfrm>
          <a:prstGeom prst="roundRect">
            <a:avLst>
              <a:gd name="adj" fmla="val 25000"/>
            </a:avLst>
          </a:prstGeom>
          <a:solidFill>
            <a:srgbClr val="4A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53199" y="3718560"/>
            <a:ext cx="1874519" cy="335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75" b="1" a:ea="Microsoft YaHei" a:latin="Aptos">
                <a:solidFill>
                  <a:srgbClr val="F1F8FF"/>
                </a:solidFill>
                <a:latin typeface="Microsoft YaHei"/>
              </a:rPr>
              <a:t>分析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3199" y="4145280"/>
            <a:ext cx="1844039" cy="472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8EA6BA"/>
                </a:solidFill>
                <a:latin typeface="Microsoft YaHei"/>
              </a:rPr>
              <a:t>找路径、列影响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39199" y="3550920"/>
            <a:ext cx="2285999" cy="1143000"/>
          </a:xfrm>
          <a:prstGeom prst="roundRect">
            <a:avLst>
              <a:gd name="adj" fmla="val 14666"/>
            </a:avLst>
          </a:prstGeom>
          <a:solidFill>
            <a:srgbClr val="102237"/>
          </a:solidFill>
          <a:ln w="13334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39199" y="3550920"/>
            <a:ext cx="53339" cy="1143000"/>
          </a:xfrm>
          <a:prstGeom prst="roundRect">
            <a:avLst>
              <a:gd name="adj" fmla="val 25000"/>
            </a:avLst>
          </a:prstGeom>
          <a:solidFill>
            <a:srgbClr val="4A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67799" y="3718560"/>
            <a:ext cx="1874519" cy="335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75" b="1" a:ea="Microsoft YaHei" a:latin="Aptos">
                <a:solidFill>
                  <a:srgbClr val="F1F8FF"/>
                </a:solidFill>
                <a:latin typeface="Microsoft YaHei"/>
              </a:rPr>
              <a:t>实现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67799" y="4145280"/>
            <a:ext cx="1844039" cy="472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8EA6BA"/>
                </a:solidFill>
                <a:latin typeface="Microsoft YaHei"/>
              </a:rPr>
              <a:t>按边界完成改动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概念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04 · CONTROL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开发不是直线，是闭环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676399" y="2286000"/>
            <a:ext cx="2133600" cy="1104900"/>
          </a:xfrm>
          <a:prstGeom prst="line">
            <a:avLst/>
          </a:prstGeom>
          <a:ln w="26669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3757338">
            <a:off x="3759707" y="2235708"/>
            <a:ext cx="100584" cy="100584"/>
          </a:xfrm>
          <a:prstGeom prst="triangle">
            <a:avLst/>
          </a:prstGeom>
          <a:solidFill>
            <a:srgbClr val="38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3809999" y="2286000"/>
            <a:ext cx="2514600" cy="0"/>
          </a:xfrm>
          <a:prstGeom prst="line">
            <a:avLst/>
          </a:prstGeom>
          <a:ln w="26669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6274307" y="2235708"/>
            <a:ext cx="100584" cy="100584"/>
          </a:xfrm>
          <a:prstGeom prst="triangle">
            <a:avLst/>
          </a:prstGeom>
          <a:solidFill>
            <a:srgbClr val="38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324599" y="2286000"/>
            <a:ext cx="2324100" cy="1104900"/>
          </a:xfrm>
          <a:prstGeom prst="line">
            <a:avLst/>
          </a:prstGeom>
          <a:ln w="26669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6925612">
            <a:off x="8598407" y="3340608"/>
            <a:ext cx="100584" cy="100584"/>
          </a:xfrm>
          <a:prstGeom prst="triangle">
            <a:avLst/>
          </a:prstGeom>
          <a:solidFill>
            <a:srgbClr val="38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H="1">
            <a:off x="6324599" y="3390900"/>
            <a:ext cx="2324100" cy="1371600"/>
          </a:xfrm>
          <a:prstGeom prst="line">
            <a:avLst/>
          </a:prstGeom>
          <a:ln w="26669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4367146">
            <a:off x="6274307" y="4712208"/>
            <a:ext cx="100584" cy="100584"/>
          </a:xfrm>
          <a:prstGeom prst="triangle">
            <a:avLst/>
          </a:prstGeom>
          <a:solidFill>
            <a:srgbClr val="38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H="1">
            <a:off x="3809999" y="4762500"/>
            <a:ext cx="2514600" cy="0"/>
          </a:xfrm>
          <a:prstGeom prst="line">
            <a:avLst/>
          </a:prstGeom>
          <a:ln w="26669">
            <a:solidFill>
              <a:srgbClr val="4A8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6200000">
            <a:off x="3759707" y="4712208"/>
            <a:ext cx="100584" cy="100584"/>
          </a:xfrm>
          <a:prstGeom prst="triangle">
            <a:avLst/>
          </a:prstGeom>
          <a:solidFill>
            <a:srgbClr val="4A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1676399" y="3390900"/>
            <a:ext cx="2133600" cy="1371600"/>
          </a:xfrm>
          <a:prstGeom prst="line">
            <a:avLst/>
          </a:prstGeom>
          <a:ln w="26669">
            <a:solidFill>
              <a:srgbClr val="4A8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8164114">
            <a:off x="1626107" y="3340608"/>
            <a:ext cx="100584" cy="100584"/>
          </a:xfrm>
          <a:prstGeom prst="triangle">
            <a:avLst/>
          </a:prstGeom>
          <a:solidFill>
            <a:srgbClr val="4A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35379" y="2849880"/>
            <a:ext cx="1082039" cy="108204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11579" y="3131820"/>
            <a:ext cx="92963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需求澄清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399" y="4053840"/>
            <a:ext cx="1523999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0" a:ea="Microsoft YaHei" a:latin="Aptos">
                <a:solidFill>
                  <a:srgbClr val="8EA6BA"/>
                </a:solidFill>
                <a:latin typeface="Microsoft YaHei"/>
              </a:rPr>
              <a:t>问清边界</a:t>
            </a:r>
          </a:p>
        </p:txBody>
      </p:sp>
      <p:sp>
        <p:nvSpPr>
          <p:cNvPr id="32" name="Oval 31"/>
          <p:cNvSpPr/>
          <p:nvPr/>
        </p:nvSpPr>
        <p:spPr>
          <a:xfrm>
            <a:off x="3268979" y="1744980"/>
            <a:ext cx="1082039" cy="108204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5179" y="2026920"/>
            <a:ext cx="92963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规范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47999" y="2948940"/>
            <a:ext cx="1523999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0" a:ea="Microsoft YaHei" a:latin="Aptos">
                <a:solidFill>
                  <a:srgbClr val="8EA6BA"/>
                </a:solidFill>
                <a:latin typeface="Microsoft YaHei"/>
              </a:rPr>
              <a:t>写下约定</a:t>
            </a:r>
          </a:p>
        </p:txBody>
      </p:sp>
      <p:sp>
        <p:nvSpPr>
          <p:cNvPr id="35" name="Oval 34"/>
          <p:cNvSpPr/>
          <p:nvPr/>
        </p:nvSpPr>
        <p:spPr>
          <a:xfrm>
            <a:off x="5783579" y="1744980"/>
            <a:ext cx="1082039" cy="108204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9779" y="2026920"/>
            <a:ext cx="92963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TDD 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62599" y="2948940"/>
            <a:ext cx="1523999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0" a:ea="Microsoft YaHei" a:latin="Aptos">
                <a:solidFill>
                  <a:srgbClr val="8EA6BA"/>
                </a:solidFill>
                <a:latin typeface="Microsoft YaHei"/>
              </a:rPr>
              <a:t>先见失败</a:t>
            </a:r>
          </a:p>
        </p:txBody>
      </p:sp>
      <p:sp>
        <p:nvSpPr>
          <p:cNvPr id="38" name="Oval 37"/>
          <p:cNvSpPr/>
          <p:nvPr/>
        </p:nvSpPr>
        <p:spPr>
          <a:xfrm>
            <a:off x="8107679" y="2849880"/>
            <a:ext cx="1082039" cy="108204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83879" y="3131820"/>
            <a:ext cx="92963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TDD GREEN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86699" y="4053840"/>
            <a:ext cx="1523999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0" a:ea="Microsoft YaHei" a:latin="Aptos">
                <a:solidFill>
                  <a:srgbClr val="8EA6BA"/>
                </a:solidFill>
                <a:latin typeface="Microsoft YaHei"/>
              </a:rPr>
              <a:t>满足证据</a:t>
            </a:r>
          </a:p>
        </p:txBody>
      </p:sp>
      <p:sp>
        <p:nvSpPr>
          <p:cNvPr id="41" name="Oval 40"/>
          <p:cNvSpPr/>
          <p:nvPr/>
        </p:nvSpPr>
        <p:spPr>
          <a:xfrm>
            <a:off x="5783579" y="4221480"/>
            <a:ext cx="1082039" cy="108204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59779" y="4503420"/>
            <a:ext cx="92963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代码评审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62599" y="5425440"/>
            <a:ext cx="1523999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0" a:ea="Microsoft YaHei" a:latin="Aptos">
                <a:solidFill>
                  <a:srgbClr val="8EA6BA"/>
                </a:solidFill>
                <a:latin typeface="Microsoft YaHei"/>
              </a:rPr>
              <a:t>实现质量</a:t>
            </a:r>
          </a:p>
        </p:txBody>
      </p:sp>
      <p:sp>
        <p:nvSpPr>
          <p:cNvPr id="44" name="Oval 43"/>
          <p:cNvSpPr/>
          <p:nvPr/>
        </p:nvSpPr>
        <p:spPr>
          <a:xfrm>
            <a:off x="3268979" y="4221480"/>
            <a:ext cx="1082039" cy="108204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C7F3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5179" y="4503420"/>
            <a:ext cx="92963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规范核对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7999" y="5425440"/>
            <a:ext cx="1523999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0" a:ea="Microsoft YaHei" a:latin="Aptos">
                <a:solidFill>
                  <a:srgbClr val="8EA6BA"/>
                </a:solidFill>
                <a:latin typeface="Microsoft YaHei"/>
              </a:rPr>
              <a:t>行为证据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915399" y="4953000"/>
            <a:ext cx="1600200" cy="0"/>
          </a:xfrm>
          <a:prstGeom prst="line">
            <a:avLst/>
          </a:prstGeom>
          <a:ln w="26669">
            <a:solidFill>
              <a:srgbClr val="FF6D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/>
          <p:cNvSpPr/>
          <p:nvPr/>
        </p:nvSpPr>
        <p:spPr>
          <a:xfrm rot="5400000">
            <a:off x="10465307" y="4902708"/>
            <a:ext cx="100584" cy="100584"/>
          </a:xfrm>
          <a:prstGeom prst="triangle">
            <a:avLst/>
          </a:prstGeom>
          <a:solidFill>
            <a:srgbClr val="FF6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10515599" y="2286000"/>
            <a:ext cx="0" cy="2667000"/>
          </a:xfrm>
          <a:prstGeom prst="line">
            <a:avLst/>
          </a:prstGeom>
          <a:ln w="26669">
            <a:solidFill>
              <a:srgbClr val="FF6D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9258299" y="2286000"/>
            <a:ext cx="1257300" cy="0"/>
          </a:xfrm>
          <a:prstGeom prst="line">
            <a:avLst/>
          </a:prstGeom>
          <a:ln w="26669">
            <a:solidFill>
              <a:srgbClr val="FF6D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16200000">
            <a:off x="9208007" y="2235708"/>
            <a:ext cx="100584" cy="100584"/>
          </a:xfrm>
          <a:prstGeom prst="triangle">
            <a:avLst/>
          </a:prstGeom>
          <a:solidFill>
            <a:srgbClr val="FF6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296399" y="3474720"/>
            <a:ext cx="1752599" cy="320040"/>
          </a:xfrm>
          <a:prstGeom prst="roundRect">
            <a:avLst>
              <a:gd name="adj" fmla="val 25000"/>
            </a:avLst>
          </a:prstGeom>
          <a:solidFill>
            <a:srgbClr val="091625"/>
          </a:solidFill>
          <a:ln w="10668">
            <a:solidFill>
              <a:srgbClr val="FF6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96399" y="3482340"/>
            <a:ext cx="175259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FF6D7A"/>
                </a:solidFill>
                <a:latin typeface="Microsoft YaHei"/>
              </a:rPr>
              <a:t>发现偏差 → 回环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闭环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05 · STOP 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60 秒安全红线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79" y="1752600"/>
            <a:ext cx="3276599" cy="144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50" b="1" a:ea="Microsoft YaHei" a:latin="Aptos">
                <a:solidFill>
                  <a:srgbClr val="38D6FF"/>
                </a:solidFill>
                <a:latin typeface="Aptos"/>
              </a:rPr>
              <a:t>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5559" y="2438400"/>
            <a:ext cx="1295399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550" b="1" a:ea="Microsoft YaHei" a:latin="Aptos">
                <a:solidFill>
                  <a:srgbClr val="8EA6BA"/>
                </a:solidFill>
                <a:latin typeface="Microsoft YaHei"/>
              </a:rPr>
              <a:t>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5799" y="1813560"/>
            <a:ext cx="2971799" cy="1249680"/>
          </a:xfrm>
          <a:prstGeom prst="roundRect">
            <a:avLst>
              <a:gd name="adj" fmla="val 12195"/>
            </a:avLst>
          </a:prstGeom>
          <a:solidFill>
            <a:srgbClr val="102237"/>
          </a:solidFill>
          <a:ln w="17780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59" y="2011680"/>
            <a:ext cx="2514599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0" a:ea="Microsoft YaHei" a:latin="Aptos">
                <a:solidFill>
                  <a:srgbClr val="8EA6BA"/>
                </a:solidFill>
                <a:latin typeface="Microsoft YaHei"/>
              </a:rPr>
              <a:t>敏感信息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59" y="2438400"/>
            <a:ext cx="25145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550" b="1" a:ea="Microsoft YaHei" a:latin="Aptos">
                <a:solidFill>
                  <a:srgbClr val="F1F8FF"/>
                </a:solidFill>
                <a:latin typeface="Microsoft YaHei"/>
              </a:rPr>
              <a:t>不上传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399" y="1813560"/>
            <a:ext cx="2971799" cy="1249680"/>
          </a:xfrm>
          <a:prstGeom prst="roundRect">
            <a:avLst>
              <a:gd name="adj" fmla="val 12195"/>
            </a:avLst>
          </a:prstGeom>
          <a:solidFill>
            <a:srgbClr val="102237"/>
          </a:solidFill>
          <a:ln w="17780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85759" y="2011680"/>
            <a:ext cx="2514599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0" a:ea="Microsoft YaHei" a:latin="Aptos">
                <a:solidFill>
                  <a:srgbClr val="8EA6BA"/>
                </a:solidFill>
                <a:latin typeface="Microsoft YaHei"/>
              </a:rPr>
              <a:t>密钥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5759" y="2438400"/>
            <a:ext cx="25145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550" b="1" a:ea="Microsoft YaHei" a:latin="Aptos">
                <a:solidFill>
                  <a:srgbClr val="F1F8FF"/>
                </a:solidFill>
                <a:latin typeface="Microsoft YaHei"/>
              </a:rPr>
              <a:t>不展示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95799" y="3375660"/>
            <a:ext cx="2971799" cy="1249680"/>
          </a:xfrm>
          <a:prstGeom prst="roundRect">
            <a:avLst>
              <a:gd name="adj" fmla="val 12195"/>
            </a:avLst>
          </a:prstGeom>
          <a:solidFill>
            <a:srgbClr val="102237"/>
          </a:solidFill>
          <a:ln w="17780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9159" y="3573780"/>
            <a:ext cx="2514599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0" a:ea="Microsoft YaHei" a:latin="Aptos">
                <a:solidFill>
                  <a:srgbClr val="8EA6BA"/>
                </a:solidFill>
                <a:latin typeface="Microsoft YaHei"/>
              </a:rPr>
              <a:t>生产权限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59" y="4000500"/>
            <a:ext cx="25145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550" b="1" a:ea="Microsoft YaHei" a:latin="Aptos">
                <a:solidFill>
                  <a:srgbClr val="F1F8FF"/>
                </a:solidFill>
                <a:latin typeface="Microsoft YaHei"/>
              </a:rPr>
              <a:t>AI 没有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399" y="3375660"/>
            <a:ext cx="2971799" cy="1249680"/>
          </a:xfrm>
          <a:prstGeom prst="roundRect">
            <a:avLst>
              <a:gd name="adj" fmla="val 12195"/>
            </a:avLst>
          </a:prstGeom>
          <a:solidFill>
            <a:srgbClr val="102237"/>
          </a:solidFill>
          <a:ln w="17780">
            <a:solidFill>
              <a:srgbClr val="FF6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85759" y="3573780"/>
            <a:ext cx="2514599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0" a:ea="Microsoft YaHei" a:latin="Aptos">
                <a:solidFill>
                  <a:srgbClr val="8EA6BA"/>
                </a:solidFill>
                <a:latin typeface="Microsoft YaHei"/>
              </a:rPr>
              <a:t>高风险动作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5759" y="4000500"/>
            <a:ext cx="25145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550" b="1" a:ea="Microsoft YaHei" a:latin="Aptos">
                <a:solidFill>
                  <a:srgbClr val="FF6D7A"/>
                </a:solidFill>
                <a:latin typeface="Microsoft YaHei"/>
              </a:rPr>
              <a:t>人工确认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79" y="4305300"/>
            <a:ext cx="3200399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50" b="1" a:ea="Microsoft YaHei" a:latin="Aptos">
                <a:solidFill>
                  <a:srgbClr val="F1F8FF"/>
                </a:solidFill>
                <a:latin typeface="Microsoft YaHei"/>
              </a:rPr>
              <a:t>不确定，就停下确认。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安全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06 · ROLE 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按职责理解工具，不背品牌</a:t>
            </a:r>
          </a:p>
        </p:txBody>
      </p:sp>
      <p:sp>
        <p:nvSpPr>
          <p:cNvPr id="17" name="Oval 16"/>
          <p:cNvSpPr/>
          <p:nvPr/>
        </p:nvSpPr>
        <p:spPr>
          <a:xfrm>
            <a:off x="5295899" y="2895600"/>
            <a:ext cx="1600199" cy="160020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C7F3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99" y="3436620"/>
            <a:ext cx="144779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受控开发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3999" y="4617720"/>
            <a:ext cx="1523999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0" a:ea="Microsoft YaHei" a:latin="Aptos">
                <a:solidFill>
                  <a:srgbClr val="8EA6BA"/>
                </a:solidFill>
                <a:latin typeface="Microsoft YaHei"/>
              </a:rPr>
              <a:t>目标与证据居中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904999" y="2286000"/>
            <a:ext cx="4191000" cy="1409700"/>
          </a:xfrm>
          <a:prstGeom prst="line">
            <a:avLst/>
          </a:prstGeom>
          <a:ln w="1778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310639" y="1691639"/>
            <a:ext cx="1188719" cy="118872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6839" y="2026920"/>
            <a:ext cx="103631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AI Coding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2999" y="3002280"/>
            <a:ext cx="1523999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0" a:ea="Microsoft YaHei" a:latin="Aptos">
                <a:solidFill>
                  <a:srgbClr val="8EA6BA"/>
                </a:solidFill>
                <a:latin typeface="Microsoft YaHei"/>
              </a:rPr>
              <a:t>辅助分析 / 实现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4114799" y="3695700"/>
            <a:ext cx="1981200" cy="1409700"/>
          </a:xfrm>
          <a:prstGeom prst="line">
            <a:avLst/>
          </a:prstGeom>
          <a:ln w="1778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520439" y="4511040"/>
            <a:ext cx="1188719" cy="118872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96639" y="4846320"/>
            <a:ext cx="103631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编排扩展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2799" y="5821680"/>
            <a:ext cx="1523999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0" a:ea="Microsoft YaHei" a:latin="Aptos">
                <a:solidFill>
                  <a:srgbClr val="8EA6BA"/>
                </a:solidFill>
                <a:latin typeface="Microsoft YaHei"/>
              </a:rPr>
              <a:t>组织协作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5999" y="3695700"/>
            <a:ext cx="1981200" cy="1409700"/>
          </a:xfrm>
          <a:prstGeom prst="line">
            <a:avLst/>
          </a:prstGeom>
          <a:ln w="1778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482839" y="4511040"/>
            <a:ext cx="1188719" cy="118872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4A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9039" y="4846320"/>
            <a:ext cx="103631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OpenSpec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199" y="5821680"/>
            <a:ext cx="1523999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0" a:ea="Microsoft YaHei" a:latin="Aptos">
                <a:solidFill>
                  <a:srgbClr val="8EA6BA"/>
                </a:solidFill>
                <a:latin typeface="Microsoft YaHei"/>
              </a:rPr>
              <a:t>规范 / 核对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095999" y="2286000"/>
            <a:ext cx="4191000" cy="1409700"/>
          </a:xfrm>
          <a:prstGeom prst="line">
            <a:avLst/>
          </a:prstGeom>
          <a:ln w="1778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9692639" y="1691639"/>
            <a:ext cx="1188719" cy="118872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68839" y="2026920"/>
            <a:ext cx="103631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skills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4999" y="3002280"/>
            <a:ext cx="1523999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0" a:ea="Microsoft YaHei" a:latin="Aptos">
                <a:solidFill>
                  <a:srgbClr val="8EA6BA"/>
                </a:solidFill>
                <a:latin typeface="Microsoft YaHei"/>
              </a:rPr>
              <a:t>能力扩展模式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6095999" y="1790700"/>
            <a:ext cx="0" cy="1905000"/>
          </a:xfrm>
          <a:prstGeom prst="line">
            <a:avLst/>
          </a:prstGeom>
          <a:ln w="1778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501639" y="1196340"/>
            <a:ext cx="1188719" cy="118872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77839" y="1531620"/>
            <a:ext cx="103631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MCP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33999" y="2506980"/>
            <a:ext cx="1523999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0" a:ea="Microsoft YaHei" a:latin="Aptos">
                <a:solidFill>
                  <a:srgbClr val="8EA6BA"/>
                </a:solidFill>
                <a:latin typeface="Microsoft YaHei"/>
              </a:rPr>
              <a:t>上下文协议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53499" y="3962399"/>
            <a:ext cx="2133599" cy="320040"/>
          </a:xfrm>
          <a:prstGeom prst="roundRect">
            <a:avLst>
              <a:gd name="adj" fmla="val 25000"/>
            </a:avLst>
          </a:prstGeom>
          <a:solidFill>
            <a:srgbClr val="091625"/>
          </a:solidFill>
          <a:ln w="10668">
            <a:solidFill>
              <a:srgbClr val="F4C9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53499" y="3970020"/>
            <a:ext cx="213359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F4C95D"/>
                </a:solidFill>
                <a:latin typeface="Microsoft YaHei"/>
              </a:rPr>
              <a:t>skills 无统一标准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工具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07 · REALITY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讲师工具链 ≠ 项目现状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79" y="2095499"/>
            <a:ext cx="3428999" cy="2514600"/>
          </a:xfrm>
          <a:prstGeom prst="roundRect">
            <a:avLst>
              <a:gd name="adj" fmla="val 7272"/>
            </a:avLst>
          </a:prstGeom>
          <a:solidFill>
            <a:srgbClr val="102237"/>
          </a:solidFill>
          <a:ln w="13334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79" y="2362200"/>
            <a:ext cx="28955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C7F36B"/>
                </a:solidFill>
                <a:latin typeface="Microsoft YaHei"/>
              </a:rPr>
              <a:t>项目已有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79" y="2849880"/>
            <a:ext cx="2895599" cy="495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50" b="1" a:ea="Microsoft YaHei" a:latin="Aptos">
                <a:solidFill>
                  <a:srgbClr val="F1F8FF"/>
                </a:solidFill>
                <a:latin typeface="Microsoft YaHei"/>
              </a:rPr>
              <a:t>opsx-* 命令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8679" y="3581400"/>
            <a:ext cx="29718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22019" y="4023360"/>
            <a:ext cx="106679" cy="1066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2999" y="3931920"/>
            <a:ext cx="2590799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1" a:ea="Microsoft YaHei" a:latin="Aptos">
                <a:solidFill>
                  <a:srgbClr val="C7F36B"/>
                </a:solidFill>
                <a:latin typeface="Aptos"/>
              </a:rPr>
              <a:t>AVAILABLE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50079" y="2095499"/>
            <a:ext cx="3428999" cy="2514600"/>
          </a:xfrm>
          <a:prstGeom prst="roundRect">
            <a:avLst>
              <a:gd name="adj" fmla="val 7272"/>
            </a:avLst>
          </a:prstGeom>
          <a:solidFill>
            <a:srgbClr val="102237"/>
          </a:solidFill>
          <a:ln w="13334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78679" y="2362200"/>
            <a:ext cx="28955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F4C95D"/>
                </a:solidFill>
                <a:latin typeface="Microsoft YaHei"/>
              </a:rPr>
              <a:t>当前为空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78679" y="2849880"/>
            <a:ext cx="2895599" cy="495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50" b="1" a:ea="Microsoft YaHei" a:latin="Aptos">
                <a:solidFill>
                  <a:srgbClr val="F1F8FF"/>
                </a:solidFill>
                <a:latin typeface="Aptos"/>
              </a:rPr>
              <a:t>skills-lock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78679" y="3581400"/>
            <a:ext cx="29718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732019" y="4023360"/>
            <a:ext cx="106679" cy="106680"/>
          </a:xfrm>
          <a:prstGeom prst="ellipse">
            <a:avLst/>
          </a:prstGeom>
          <a:solidFill>
            <a:srgbClr val="F4C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2999" y="3931920"/>
            <a:ext cx="2590799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1" a:ea="Microsoft YaHei" a:latin="Aptos">
                <a:solidFill>
                  <a:srgbClr val="F4C95D"/>
                </a:solidFill>
                <a:latin typeface="Aptos"/>
              </a:rPr>
              <a:t>EMPTY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60079" y="2095499"/>
            <a:ext cx="3428999" cy="2514600"/>
          </a:xfrm>
          <a:prstGeom prst="roundRect">
            <a:avLst>
              <a:gd name="adj" fmla="val 7272"/>
            </a:avLst>
          </a:prstGeom>
          <a:solidFill>
            <a:srgbClr val="102237"/>
          </a:solidFill>
          <a:ln w="13334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88679" y="2362200"/>
            <a:ext cx="28955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8EA6BA"/>
                </a:solidFill>
                <a:latin typeface="Microsoft YaHei"/>
              </a:rPr>
              <a:t>仓库未配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88679" y="2849880"/>
            <a:ext cx="2895599" cy="495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50" b="1" a:ea="Microsoft YaHei" a:latin="Aptos">
                <a:solidFill>
                  <a:srgbClr val="F1F8FF"/>
                </a:solidFill>
                <a:latin typeface="Aptos"/>
              </a:rPr>
              <a:t>MCP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488679" y="3581400"/>
            <a:ext cx="29718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542019" y="4023360"/>
            <a:ext cx="106679" cy="106680"/>
          </a:xfrm>
          <a:prstGeom prst="ellipse">
            <a:avLst/>
          </a:prstGeom>
          <a:solidFill>
            <a:srgbClr val="8EA6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2999" y="3931920"/>
            <a:ext cx="2590799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1" a:ea="Microsoft YaHei" a:latin="Aptos">
                <a:solidFill>
                  <a:srgbClr val="8EA6BA"/>
                </a:solidFill>
                <a:latin typeface="Aptos"/>
              </a:rPr>
              <a:t>NOT CONFIGURED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79519" y="4991100"/>
            <a:ext cx="4648199" cy="320040"/>
          </a:xfrm>
          <a:prstGeom prst="roundRect">
            <a:avLst>
              <a:gd name="adj" fmla="val 25000"/>
            </a:avLst>
          </a:prstGeom>
          <a:solidFill>
            <a:srgbClr val="091625"/>
          </a:solidFill>
          <a:ln w="10668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79519" y="4998720"/>
            <a:ext cx="464819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38D6FF"/>
                </a:solidFill>
                <a:latin typeface="Microsoft YaHei"/>
              </a:rPr>
              <a:t>先看仓库事实，再谈可选扩展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工具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08 · RISK ADAPTATION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风险变，控制意图不变</a:t>
            </a:r>
          </a:p>
        </p:txBody>
      </p:sp>
      <p:sp>
        <p:nvSpPr>
          <p:cNvPr id="17" name="Oval 16"/>
          <p:cNvSpPr/>
          <p:nvPr/>
        </p:nvSpPr>
        <p:spPr>
          <a:xfrm>
            <a:off x="876299" y="2743200"/>
            <a:ext cx="1676399" cy="1676400"/>
          </a:xfrm>
          <a:prstGeom prst="ellipse">
            <a:avLst/>
          </a:prstGeom>
          <a:solidFill>
            <a:srgbClr val="102237"/>
          </a:solidFill>
          <a:ln w="35560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6299" y="3139440"/>
            <a:ext cx="16763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200" b="1" a:ea="Microsoft YaHei" a:latin="Aptos">
                <a:solidFill>
                  <a:srgbClr val="F1F8FF"/>
                </a:solidFill>
                <a:latin typeface="Microsoft YaHei"/>
              </a:rPr>
              <a:t>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299" y="3825240"/>
            <a:ext cx="1676399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Microsoft YaHei"/>
              </a:rPr>
              <a:t>聚焦证据</a:t>
            </a:r>
          </a:p>
        </p:txBody>
      </p:sp>
      <p:sp>
        <p:nvSpPr>
          <p:cNvPr id="20" name="Oval 19"/>
          <p:cNvSpPr/>
          <p:nvPr/>
        </p:nvSpPr>
        <p:spPr>
          <a:xfrm>
            <a:off x="4114799" y="1828800"/>
            <a:ext cx="2285999" cy="2286000"/>
          </a:xfrm>
          <a:prstGeom prst="ellipse">
            <a:avLst/>
          </a:prstGeom>
          <a:solidFill>
            <a:srgbClr val="102237"/>
          </a:solidFill>
          <a:ln w="35560">
            <a:solidFill>
              <a:srgbClr val="4A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9" y="2529840"/>
            <a:ext cx="22859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200" b="1" a:ea="Microsoft YaHei" a:latin="Aptos">
                <a:solidFill>
                  <a:srgbClr val="F1F8FF"/>
                </a:solidFill>
                <a:latin typeface="Microsoft YaHei"/>
              </a:rPr>
              <a:t>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799" y="3215640"/>
            <a:ext cx="2285999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4A88FF"/>
                </a:solidFill>
                <a:latin typeface="Microsoft YaHei"/>
              </a:rPr>
              <a:t>扩大检查</a:t>
            </a:r>
          </a:p>
        </p:txBody>
      </p:sp>
      <p:sp>
        <p:nvSpPr>
          <p:cNvPr id="23" name="Oval 22"/>
          <p:cNvSpPr/>
          <p:nvPr/>
        </p:nvSpPr>
        <p:spPr>
          <a:xfrm>
            <a:off x="7658099" y="800100"/>
            <a:ext cx="2971799" cy="2971800"/>
          </a:xfrm>
          <a:prstGeom prst="ellipse">
            <a:avLst/>
          </a:prstGeom>
          <a:solidFill>
            <a:srgbClr val="102237"/>
          </a:solidFill>
          <a:ln w="35560">
            <a:solidFill>
              <a:srgbClr val="FF6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58099" y="1844040"/>
            <a:ext cx="29717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200" b="1" a:ea="Microsoft YaHei" a:latin="Aptos">
                <a:solidFill>
                  <a:srgbClr val="F1F8FF"/>
                </a:solidFill>
                <a:latin typeface="Microsoft YaHei"/>
              </a:rPr>
              <a:t>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58099" y="2529840"/>
            <a:ext cx="2971799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FF6D7A"/>
                </a:solidFill>
                <a:latin typeface="Microsoft YaHei"/>
              </a:rPr>
              <a:t>人工确认 + 深证据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42999" y="5562600"/>
            <a:ext cx="9906000" cy="0"/>
          </a:xfrm>
          <a:prstGeom prst="line">
            <a:avLst/>
          </a:prstGeom>
          <a:ln w="44450">
            <a:solidFill>
              <a:srgbClr val="C7F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943099" y="5486400"/>
            <a:ext cx="152399" cy="15240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86939" y="5410200"/>
            <a:ext cx="1600199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75" b="1" a:ea="Microsoft YaHei" a:latin="Aptos">
                <a:solidFill>
                  <a:srgbClr val="F1F8FF"/>
                </a:solidFill>
                <a:latin typeface="Microsoft YaHei"/>
              </a:rPr>
              <a:t>目标</a:t>
            </a:r>
          </a:p>
        </p:txBody>
      </p:sp>
      <p:sp>
        <p:nvSpPr>
          <p:cNvPr id="29" name="Oval 28"/>
          <p:cNvSpPr/>
          <p:nvPr/>
        </p:nvSpPr>
        <p:spPr>
          <a:xfrm>
            <a:off x="4991099" y="5486400"/>
            <a:ext cx="152399" cy="15240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34939" y="5410200"/>
            <a:ext cx="1600199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75" b="1" a:ea="Microsoft YaHei" a:latin="Aptos">
                <a:solidFill>
                  <a:srgbClr val="F1F8FF"/>
                </a:solidFill>
                <a:latin typeface="Microsoft YaHei"/>
              </a:rPr>
              <a:t>边界</a:t>
            </a:r>
          </a:p>
        </p:txBody>
      </p:sp>
      <p:sp>
        <p:nvSpPr>
          <p:cNvPr id="31" name="Oval 30"/>
          <p:cNvSpPr/>
          <p:nvPr/>
        </p:nvSpPr>
        <p:spPr>
          <a:xfrm>
            <a:off x="8039099" y="5486400"/>
            <a:ext cx="152399" cy="15240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2939" y="5410200"/>
            <a:ext cx="1600199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75" b="1" a:ea="Microsoft YaHei" a:latin="Aptos">
                <a:solidFill>
                  <a:srgbClr val="F1F8FF"/>
                </a:solidFill>
                <a:latin typeface="Microsoft YaHei"/>
              </a:rPr>
              <a:t>验证证据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方法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09 · DEMO BRIEF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演示需求：配置临期窗口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79" y="1790700"/>
            <a:ext cx="5333999" cy="3886200"/>
          </a:xfrm>
          <a:prstGeom prst="roundRect">
            <a:avLst>
              <a:gd name="adj" fmla="val 5098"/>
            </a:avLst>
          </a:prstGeom>
          <a:solidFill>
            <a:srgbClr val="102237"/>
          </a:solidFill>
          <a:ln w="13334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2057400"/>
            <a:ext cx="44195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8EA6BA"/>
                </a:solidFill>
                <a:latin typeface="Microsoft YaHei"/>
              </a:rPr>
              <a:t>提醒面板 / 临期窗口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19" y="2606040"/>
            <a:ext cx="2819399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50" b="1" a:ea="Microsoft YaHei" a:latin="Aptos">
                <a:solidFill>
                  <a:srgbClr val="F1F8FF"/>
                </a:solidFill>
                <a:latin typeface="Microsoft YaHei"/>
              </a:rPr>
              <a:t>临期窗口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19" y="3200400"/>
            <a:ext cx="2285999" cy="655320"/>
          </a:xfrm>
          <a:prstGeom prst="roundRect">
            <a:avLst>
              <a:gd name="adj" fmla="val 18604"/>
            </a:avLst>
          </a:prstGeom>
          <a:solidFill>
            <a:srgbClr val="07111F"/>
          </a:solidFill>
          <a:ln w="17780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50619" y="3276600"/>
            <a:ext cx="1752599" cy="4724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300" b="1" a:ea="Microsoft YaHei" a:latin="Aptos">
                <a:solidFill>
                  <a:srgbClr val="F1F8FF"/>
                </a:solidFill>
                <a:latin typeface="Aptos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8519" y="3390900"/>
            <a:ext cx="670559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50" b="0" a:ea="Microsoft YaHei" a:latin="Aptos">
                <a:solidFill>
                  <a:srgbClr val="8EA6BA"/>
                </a:solidFill>
                <a:latin typeface="Microsoft YaHei"/>
              </a:rPr>
              <a:t>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75759" y="3200400"/>
            <a:ext cx="1402079" cy="655320"/>
          </a:xfrm>
          <a:prstGeom prst="roundRect">
            <a:avLst>
              <a:gd name="adj" fmla="val 18604"/>
            </a:avLst>
          </a:prstGeom>
          <a:solidFill>
            <a:srgbClr val="38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75759" y="3268979"/>
            <a:ext cx="1402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875" b="1" a:ea="Microsoft YaHei" a:latin="Aptos">
                <a:solidFill>
                  <a:srgbClr val="07111F"/>
                </a:solidFill>
                <a:latin typeface="Microsoft YaHei"/>
              </a:rPr>
              <a:t>保存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0119" y="4251960"/>
            <a:ext cx="46177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0119" y="4495800"/>
            <a:ext cx="2133599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25" b="0" a:ea="Microsoft YaHei" a:latin="Aptos">
                <a:solidFill>
                  <a:srgbClr val="8EA6BA"/>
                </a:solidFill>
                <a:latin typeface="Microsoft YaHei"/>
              </a:rPr>
              <a:t>提醒日期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6599" y="4495800"/>
            <a:ext cx="2301239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575" b="0" a:ea="Microsoft YaHei" a:latin="Aptos">
                <a:solidFill>
                  <a:srgbClr val="F1F8FF"/>
                </a:solidFill>
                <a:latin typeface="Aptos"/>
              </a:rPr>
              <a:t>2026-08-11</a:t>
            </a:r>
          </a:p>
        </p:txBody>
      </p:sp>
      <p:sp>
        <p:nvSpPr>
          <p:cNvPr id="28" name="Oval 27"/>
          <p:cNvSpPr/>
          <p:nvPr/>
        </p:nvSpPr>
        <p:spPr>
          <a:xfrm>
            <a:off x="6781799" y="1996439"/>
            <a:ext cx="152399" cy="15240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71359" y="1905000"/>
            <a:ext cx="3809999" cy="350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25" b="1" a:ea="Microsoft YaHei" a:latin="Aptos">
                <a:solidFill>
                  <a:srgbClr val="F1F8FF"/>
                </a:solidFill>
                <a:latin typeface="Microsoft YaHei"/>
              </a:rPr>
              <a:t>0 有语义</a:t>
            </a:r>
          </a:p>
        </p:txBody>
      </p:sp>
      <p:sp>
        <p:nvSpPr>
          <p:cNvPr id="30" name="Oval 29"/>
          <p:cNvSpPr/>
          <p:nvPr/>
        </p:nvSpPr>
        <p:spPr>
          <a:xfrm>
            <a:off x="6781799" y="2697480"/>
            <a:ext cx="152399" cy="152400"/>
          </a:xfrm>
          <a:prstGeom prst="ellipse">
            <a:avLst/>
          </a:prstGeom>
          <a:solidFill>
            <a:srgbClr val="38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71359" y="2606040"/>
            <a:ext cx="3809999" cy="350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25" b="1" a:ea="Microsoft YaHei" a:latin="Aptos">
                <a:solidFill>
                  <a:srgbClr val="F1F8FF"/>
                </a:solidFill>
                <a:latin typeface="Microsoft YaHei"/>
              </a:rPr>
              <a:t>非负安全整数</a:t>
            </a:r>
          </a:p>
        </p:txBody>
      </p:sp>
      <p:sp>
        <p:nvSpPr>
          <p:cNvPr id="32" name="Oval 31"/>
          <p:cNvSpPr/>
          <p:nvPr/>
        </p:nvSpPr>
        <p:spPr>
          <a:xfrm>
            <a:off x="6781799" y="3398520"/>
            <a:ext cx="152399" cy="152400"/>
          </a:xfrm>
          <a:prstGeom prst="ellipse">
            <a:avLst/>
          </a:prstGeom>
          <a:solidFill>
            <a:srgbClr val="38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71359" y="3307080"/>
            <a:ext cx="3809999" cy="350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25" b="1" a:ea="Microsoft YaHei" a:latin="Aptos">
                <a:solidFill>
                  <a:srgbClr val="F1F8FF"/>
                </a:solidFill>
                <a:latin typeface="Microsoft YaHei"/>
              </a:rPr>
              <a:t>显式保存 / 刷新</a:t>
            </a:r>
          </a:p>
        </p:txBody>
      </p:sp>
      <p:sp>
        <p:nvSpPr>
          <p:cNvPr id="34" name="Oval 33"/>
          <p:cNvSpPr/>
          <p:nvPr/>
        </p:nvSpPr>
        <p:spPr>
          <a:xfrm>
            <a:off x="6781799" y="4099560"/>
            <a:ext cx="152399" cy="152400"/>
          </a:xfrm>
          <a:prstGeom prst="ellipse">
            <a:avLst/>
          </a:prstGeom>
          <a:solidFill>
            <a:srgbClr val="4A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71359" y="4008119"/>
            <a:ext cx="3809999" cy="350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25" b="1" a:ea="Microsoft YaHei" a:latin="Aptos">
                <a:solidFill>
                  <a:srgbClr val="F1F8FF"/>
                </a:solidFill>
                <a:latin typeface="Microsoft YaHei"/>
              </a:rPr>
              <a:t>持久化</a:t>
            </a:r>
          </a:p>
        </p:txBody>
      </p:sp>
      <p:sp>
        <p:nvSpPr>
          <p:cNvPr id="36" name="Oval 35"/>
          <p:cNvSpPr/>
          <p:nvPr/>
        </p:nvSpPr>
        <p:spPr>
          <a:xfrm>
            <a:off x="6781799" y="4800600"/>
            <a:ext cx="152399" cy="152400"/>
          </a:xfrm>
          <a:prstGeom prst="ellipse">
            <a:avLst/>
          </a:prstGeom>
          <a:solidFill>
            <a:srgbClr val="4A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71359" y="4709160"/>
            <a:ext cx="3809999" cy="350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25" b="1" a:ea="Microsoft YaHei" a:latin="Aptos">
                <a:solidFill>
                  <a:srgbClr val="F1F8FF"/>
                </a:solidFill>
                <a:latin typeface="Microsoft YaHei"/>
              </a:rPr>
              <a:t>日期可见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演示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10 · GRILL / VOTE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先问对，才做对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499" y="1485900"/>
            <a:ext cx="2666999" cy="1981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750" b="1" a:ea="Microsoft YaHei" a:latin="Aptos">
                <a:solidFill>
                  <a:srgbClr val="38D6FF"/>
                </a:solidFill>
                <a:latin typeface="Aptos"/>
              </a:rPr>
              <a:t>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39" y="3962399"/>
            <a:ext cx="3428999" cy="1295400"/>
          </a:xfrm>
          <a:prstGeom prst="roundRect">
            <a:avLst>
              <a:gd name="adj" fmla="val 12941"/>
            </a:avLst>
          </a:prstGeom>
          <a:solidFill>
            <a:srgbClr val="102237"/>
          </a:solidFill>
          <a:ln w="17780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339" y="4130040"/>
            <a:ext cx="3047999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75" b="1" a:ea="Microsoft YaHei" a:latin="Aptos">
                <a:solidFill>
                  <a:srgbClr val="F1F8FF"/>
                </a:solidFill>
                <a:latin typeface="Microsoft YaHei"/>
              </a:rPr>
              <a:t>0 天是什么？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39" y="3962399"/>
            <a:ext cx="3428999" cy="1295400"/>
          </a:xfrm>
          <a:prstGeom prst="roundRect">
            <a:avLst>
              <a:gd name="adj" fmla="val 12941"/>
            </a:avLst>
          </a:prstGeom>
          <a:solidFill>
            <a:srgbClr val="102237"/>
          </a:solidFill>
          <a:ln w="17780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25339" y="4130040"/>
            <a:ext cx="3047999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75" b="1" a:ea="Microsoft YaHei" a:latin="Aptos">
                <a:solidFill>
                  <a:srgbClr val="F1F8FF"/>
                </a:solidFill>
                <a:latin typeface="Microsoft YaHei"/>
              </a:rPr>
              <a:t>需要业务上限吗？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44839" y="3962399"/>
            <a:ext cx="3428999" cy="1295400"/>
          </a:xfrm>
          <a:prstGeom prst="roundRect">
            <a:avLst>
              <a:gd name="adj" fmla="val 12941"/>
            </a:avLst>
          </a:prstGeom>
          <a:solidFill>
            <a:srgbClr val="102237"/>
          </a:solidFill>
          <a:ln w="17780">
            <a:solidFill>
              <a:srgbClr val="F4C9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5339" y="4130040"/>
            <a:ext cx="3047999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75" b="1" a:ea="Microsoft YaHei" a:latin="Aptos">
                <a:solidFill>
                  <a:srgbClr val="F1F8FF"/>
                </a:solidFill>
                <a:latin typeface="Microsoft YaHei"/>
              </a:rPr>
              <a:t>要不要 reset？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24399" y="5562600"/>
            <a:ext cx="2743199" cy="320040"/>
          </a:xfrm>
          <a:prstGeom prst="roundRect">
            <a:avLst>
              <a:gd name="adj" fmla="val 25000"/>
            </a:avLst>
          </a:prstGeom>
          <a:solidFill>
            <a:srgbClr val="091625"/>
          </a:solidFill>
          <a:ln w="10668">
            <a:solidFill>
              <a:srgbClr val="C7F3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4399" y="5570220"/>
            <a:ext cx="274319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C7F36B"/>
                </a:solidFill>
                <a:latin typeface="Microsoft YaHei"/>
              </a:rPr>
              <a:t>举手投票 · 先不揭答案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澄清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11 · OPENSPEC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同一 change，规则逐步变清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76399" y="3505200"/>
            <a:ext cx="8839200" cy="0"/>
          </a:xfrm>
          <a:prstGeom prst="line">
            <a:avLst/>
          </a:prstGeom>
          <a:ln w="4445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1851659" y="3375660"/>
            <a:ext cx="259079" cy="259080"/>
          </a:xfrm>
          <a:prstGeom prst="ellipse">
            <a:avLst/>
          </a:prstGeom>
          <a:solidFill>
            <a:srgbClr val="38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0599" y="251460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950" b="1" a:ea="Microsoft YaHei" a:latin="Aptos">
                <a:solidFill>
                  <a:srgbClr val="F1F8FF"/>
                </a:solidFill>
                <a:latin typeface="Microsoft YaHei"/>
              </a:rPr>
              <a:t>原始 propose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799" y="3855720"/>
            <a:ext cx="18287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38D6FF"/>
                </a:solidFill>
                <a:latin typeface="Microsoft YaHei"/>
              </a:rPr>
              <a:t>基础规则</a:t>
            </a:r>
          </a:p>
        </p:txBody>
      </p:sp>
      <p:sp>
        <p:nvSpPr>
          <p:cNvPr id="21" name="Oval 20"/>
          <p:cNvSpPr/>
          <p:nvPr/>
        </p:nvSpPr>
        <p:spPr>
          <a:xfrm>
            <a:off x="4823459" y="3375660"/>
            <a:ext cx="259079" cy="259080"/>
          </a:xfrm>
          <a:prstGeom prst="ellipse">
            <a:avLst/>
          </a:prstGeom>
          <a:solidFill>
            <a:srgbClr val="F4C9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62399" y="251460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950" b="1" a:ea="Microsoft YaHei" a:latin="Aptos">
                <a:solidFill>
                  <a:srgbClr val="F1F8FF"/>
                </a:solidFill>
                <a:latin typeface="Microsoft YaHei"/>
              </a:rPr>
              <a:t>Grill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38599" y="3855720"/>
            <a:ext cx="18287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F4C95D"/>
                </a:solidFill>
                <a:latin typeface="Microsoft YaHei"/>
              </a:rPr>
              <a:t>发现边界</a:t>
            </a:r>
          </a:p>
        </p:txBody>
      </p:sp>
      <p:sp>
        <p:nvSpPr>
          <p:cNvPr id="24" name="Oval 23"/>
          <p:cNvSpPr/>
          <p:nvPr/>
        </p:nvSpPr>
        <p:spPr>
          <a:xfrm>
            <a:off x="7795259" y="3375660"/>
            <a:ext cx="259079" cy="259080"/>
          </a:xfrm>
          <a:prstGeom prst="ellipse">
            <a:avLst/>
          </a:prstGeom>
          <a:solidFill>
            <a:srgbClr val="4A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4199" y="251460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950" b="1" a:ea="Microsoft YaHei" a:latin="Aptos">
                <a:solidFill>
                  <a:srgbClr val="F1F8FF"/>
                </a:solidFill>
                <a:latin typeface="Microsoft YaHei"/>
              </a:rPr>
              <a:t>更新 spec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0399" y="3855720"/>
            <a:ext cx="18287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4A88FF"/>
                </a:solidFill>
                <a:latin typeface="Microsoft YaHei"/>
              </a:rPr>
              <a:t>同一 change</a:t>
            </a:r>
          </a:p>
        </p:txBody>
      </p:sp>
      <p:sp>
        <p:nvSpPr>
          <p:cNvPr id="27" name="Oval 26"/>
          <p:cNvSpPr/>
          <p:nvPr/>
        </p:nvSpPr>
        <p:spPr>
          <a:xfrm>
            <a:off x="10386059" y="3375660"/>
            <a:ext cx="259079" cy="2590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4999" y="251460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950" b="1" a:ea="Microsoft YaHei" a:latin="Aptos">
                <a:solidFill>
                  <a:srgbClr val="F1F8FF"/>
                </a:solidFill>
                <a:latin typeface="Microsoft YaHei"/>
              </a:rPr>
              <a:t>验收场景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199" y="3855720"/>
            <a:ext cx="18287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C7F36B"/>
                </a:solidFill>
                <a:latin typeface="Microsoft YaHei"/>
              </a:rPr>
              <a:t>可验证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52799" y="4724400"/>
            <a:ext cx="5486399" cy="320040"/>
          </a:xfrm>
          <a:prstGeom prst="roundRect">
            <a:avLst>
              <a:gd name="adj" fmla="val 25000"/>
            </a:avLst>
          </a:prstGeom>
          <a:solidFill>
            <a:srgbClr val="091625"/>
          </a:solidFill>
          <a:ln w="10668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52799" y="4732020"/>
            <a:ext cx="548639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38D6FF"/>
                </a:solidFill>
                <a:latin typeface="Microsoft YaHei"/>
              </a:rPr>
              <a:t>不新建重叠 change · spec 写约定，不写步骤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规范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12 · TDD 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RED：失败先成为证据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79" y="1706880"/>
            <a:ext cx="2057399" cy="320040"/>
          </a:xfrm>
          <a:prstGeom prst="roundRect">
            <a:avLst>
              <a:gd name="adj" fmla="val 25000"/>
            </a:avLst>
          </a:prstGeom>
          <a:solidFill>
            <a:srgbClr val="091625"/>
          </a:solidFill>
          <a:ln w="10668">
            <a:solidFill>
              <a:srgbClr val="8EA6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79" y="1714500"/>
            <a:ext cx="205739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8EA6BA"/>
                </a:solidFill>
                <a:latin typeface="Microsoft YaHei"/>
              </a:rPr>
              <a:t>baseline  76747c1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19399" y="1866899"/>
            <a:ext cx="1143000" cy="0"/>
          </a:xfrm>
          <a:prstGeom prst="line">
            <a:avLst/>
          </a:prstGeom>
          <a:ln w="26669">
            <a:solidFill>
              <a:srgbClr val="FF6D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3912107" y="1816608"/>
            <a:ext cx="100584" cy="100584"/>
          </a:xfrm>
          <a:prstGeom prst="triangle">
            <a:avLst/>
          </a:prstGeom>
          <a:solidFill>
            <a:srgbClr val="FF6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14799" y="1706880"/>
            <a:ext cx="2133599" cy="320040"/>
          </a:xfrm>
          <a:prstGeom prst="roundRect">
            <a:avLst>
              <a:gd name="adj" fmla="val 25000"/>
            </a:avLst>
          </a:prstGeom>
          <a:solidFill>
            <a:srgbClr val="091625"/>
          </a:solidFill>
          <a:ln w="10668">
            <a:solidFill>
              <a:srgbClr val="FF6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799" y="1714500"/>
            <a:ext cx="213359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FF6D7A"/>
                </a:solidFill>
                <a:latin typeface="Microsoft YaHei"/>
              </a:rPr>
              <a:t>red-test  f771667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79" y="2705100"/>
            <a:ext cx="5257799" cy="1905000"/>
          </a:xfrm>
          <a:prstGeom prst="roundRect">
            <a:avLst>
              <a:gd name="adj" fmla="val 8800"/>
            </a:avLst>
          </a:prstGeom>
          <a:solidFill>
            <a:srgbClr val="102237"/>
          </a:solidFill>
          <a:ln w="13334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79" y="2705100"/>
            <a:ext cx="53339" cy="1905000"/>
          </a:xfrm>
          <a:prstGeom prst="roundRect">
            <a:avLst>
              <a:gd name="adj" fmla="val 25000"/>
            </a:avLst>
          </a:prstGeom>
          <a:solidFill>
            <a:srgbClr val="FF6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3439" y="2872740"/>
            <a:ext cx="495299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75" b="1" a:ea="Microsoft YaHei" a:latin="Aptos">
                <a:solidFill>
                  <a:srgbClr val="FF6D7A"/>
                </a:solidFill>
                <a:latin typeface="Aptos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6839" y="2872740"/>
            <a:ext cx="4328159" cy="335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75" b="1" a:ea="Microsoft YaHei" a:latin="Aptos">
                <a:solidFill>
                  <a:srgbClr val="F1F8FF"/>
                </a:solidFill>
                <a:latin typeface="Microsoft YaHei"/>
              </a:rPr>
              <a:t>MAIN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79" y="3299460"/>
            <a:ext cx="4815839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8EA6BA"/>
                </a:solidFill>
                <a:latin typeface="Microsoft YaHei"/>
              </a:rPr>
              <a:t>2 项失败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8EA6BA"/>
                </a:solidFill>
                <a:latin typeface="Microsoft YaHei"/>
              </a:rPr>
              <a:t>V2_MUTATION_UNKNOWN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4119" y="2705100"/>
            <a:ext cx="5257799" cy="1905000"/>
          </a:xfrm>
          <a:prstGeom prst="roundRect">
            <a:avLst>
              <a:gd name="adj" fmla="val 8800"/>
            </a:avLst>
          </a:prstGeom>
          <a:solidFill>
            <a:srgbClr val="102237"/>
          </a:solidFill>
          <a:ln w="13334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94119" y="2705100"/>
            <a:ext cx="53339" cy="1905000"/>
          </a:xfrm>
          <a:prstGeom prst="roundRect">
            <a:avLst>
              <a:gd name="adj" fmla="val 25000"/>
            </a:avLst>
          </a:prstGeom>
          <a:solidFill>
            <a:srgbClr val="FF6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7479" y="2872740"/>
            <a:ext cx="495299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75" b="1" a:ea="Microsoft YaHei" a:latin="Aptos">
                <a:solidFill>
                  <a:srgbClr val="FF6D7A"/>
                </a:solidFill>
                <a:latin typeface="Aptos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79" y="2872740"/>
            <a:ext cx="4328159" cy="335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75" b="1" a:ea="Microsoft YaHei" a:latin="Aptos">
                <a:solidFill>
                  <a:srgbClr val="F1F8FF"/>
                </a:solidFill>
                <a:latin typeface="Microsoft YaHei"/>
              </a:rPr>
              <a:t>UI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22719" y="3299460"/>
            <a:ext cx="4815839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8EA6BA"/>
                </a:solidFill>
                <a:latin typeface="Microsoft YaHei"/>
              </a:rPr>
              <a:t>1 项失败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8EA6BA"/>
                </a:solidFill>
                <a:latin typeface="Microsoft YaHei"/>
              </a:rPr>
              <a:t>“临期窗口”控件缺失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79" y="5128260"/>
            <a:ext cx="10911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50" b="1" a:ea="Microsoft YaHei" a:latin="Aptos">
                <a:solidFill>
                  <a:srgbClr val="F1F8FF"/>
                </a:solidFill>
                <a:latin typeface="Microsoft YaHei"/>
              </a:rPr>
              <a:t>红，不是故障；它证明行为尚未实现。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RED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13 · PRESET FAILURE · 0554164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能运行 ≠ 做正确</a:t>
            </a:r>
          </a:p>
        </p:txBody>
      </p:sp>
      <p:sp>
        <p:nvSpPr>
          <p:cNvPr id="17" name="Oval 16"/>
          <p:cNvSpPr/>
          <p:nvPr/>
        </p:nvSpPr>
        <p:spPr>
          <a:xfrm>
            <a:off x="1181099" y="2324100"/>
            <a:ext cx="1142999" cy="114300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C7F3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57299" y="2636520"/>
            <a:ext cx="99059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IPC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2999" y="3710940"/>
            <a:ext cx="1219199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C7F36B"/>
                </a:solidFill>
                <a:latin typeface="Microsoft YaHei"/>
              </a:rPr>
              <a:t>已接通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38399" y="2895600"/>
            <a:ext cx="1485900" cy="0"/>
          </a:xfrm>
          <a:prstGeom prst="line">
            <a:avLst/>
          </a:prstGeom>
          <a:ln w="35560">
            <a:solidFill>
              <a:srgbClr val="C7F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3874007" y="2845307"/>
            <a:ext cx="100584" cy="100584"/>
          </a:xfrm>
          <a:prstGeom prst="triangl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00499" y="2324100"/>
            <a:ext cx="1142999" cy="114300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C7F3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76699" y="2636520"/>
            <a:ext cx="99059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facade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62399" y="3710940"/>
            <a:ext cx="1219199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C7F36B"/>
                </a:solidFill>
                <a:latin typeface="Microsoft YaHei"/>
              </a:rPr>
              <a:t>已接通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57799" y="2895600"/>
            <a:ext cx="1485900" cy="0"/>
          </a:xfrm>
          <a:prstGeom prst="line">
            <a:avLst/>
          </a:prstGeom>
          <a:ln w="35560">
            <a:solidFill>
              <a:srgbClr val="C7F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6693407" y="2845307"/>
            <a:ext cx="100584" cy="100584"/>
          </a:xfrm>
          <a:prstGeom prst="triangl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19899" y="2324100"/>
            <a:ext cx="1142999" cy="114300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C7F3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6099" y="2636520"/>
            <a:ext cx="99059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1799" y="3710940"/>
            <a:ext cx="1219199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C7F36B"/>
                </a:solidFill>
                <a:latin typeface="Microsoft YaHei"/>
              </a:rPr>
              <a:t>已接通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77199" y="2895600"/>
            <a:ext cx="1485900" cy="0"/>
          </a:xfrm>
          <a:prstGeom prst="line">
            <a:avLst/>
          </a:prstGeom>
          <a:ln w="35560">
            <a:solidFill>
              <a:srgbClr val="FF6D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9512807" y="2845307"/>
            <a:ext cx="100584" cy="100584"/>
          </a:xfrm>
          <a:prstGeom prst="triangle">
            <a:avLst/>
          </a:prstGeom>
          <a:solidFill>
            <a:srgbClr val="FF6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639299" y="2324100"/>
            <a:ext cx="1142999" cy="1143000"/>
          </a:xfrm>
          <a:prstGeom prst="ellipse">
            <a:avLst/>
          </a:prstGeom>
          <a:solidFill>
            <a:srgbClr val="102237"/>
          </a:solidFill>
          <a:ln w="26669">
            <a:solidFill>
              <a:srgbClr val="FF6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15499" y="2636520"/>
            <a:ext cx="990599" cy="48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a:ea="Microsoft YaHei" a:latin="Aptos">
                <a:solidFill>
                  <a:srgbClr val="F1F8FF"/>
                </a:solidFill>
                <a:latin typeface="Microsoft YaHei"/>
              </a:rPr>
              <a:t>规则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199" y="3710940"/>
            <a:ext cx="1219199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FF6D7A"/>
                </a:solidFill>
                <a:latin typeface="Microsoft YaHei"/>
              </a:rPr>
              <a:t>拒绝 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05199" y="4533900"/>
            <a:ext cx="5181599" cy="731520"/>
          </a:xfrm>
          <a:prstGeom prst="roundRect">
            <a:avLst>
              <a:gd name="adj" fmla="val 18750"/>
            </a:avLst>
          </a:prstGeom>
          <a:solidFill>
            <a:srgbClr val="091625"/>
          </a:solidFill>
          <a:ln w="17780">
            <a:solidFill>
              <a:srgbClr val="FF6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49039" y="4648200"/>
            <a:ext cx="4693919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75" b="1" a:ea="Microsoft YaHei" a:latin="Aptos">
                <a:solidFill>
                  <a:srgbClr val="FF6D7A"/>
                </a:solidFill>
                <a:latin typeface="Aptos"/>
              </a:rPr>
              <a:t>错误约束：临期窗口 &gt;= 1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纠偏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14 · GREEN · D304BD5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GREEN：边界、界面、数据对齐</a:t>
            </a:r>
          </a:p>
        </p:txBody>
      </p:sp>
      <p:sp>
        <p:nvSpPr>
          <p:cNvPr id="17" name="Oval 16"/>
          <p:cNvSpPr/>
          <p:nvPr/>
        </p:nvSpPr>
        <p:spPr>
          <a:xfrm>
            <a:off x="1714499" y="2362200"/>
            <a:ext cx="2590799" cy="2590800"/>
          </a:xfrm>
          <a:prstGeom prst="ellipse">
            <a:avLst/>
          </a:prstGeom>
          <a:solidFill>
            <a:srgbClr val="091625"/>
          </a:solidFill>
          <a:ln w="88900">
            <a:solidFill>
              <a:srgbClr val="C7F3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90699" y="2537460"/>
            <a:ext cx="2438399" cy="205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850" b="1" a:ea="Microsoft YaHei" a:latin="Aptos">
                <a:solidFill>
                  <a:srgbClr val="F1F8FF"/>
                </a:solidFill>
                <a:latin typeface="Apto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4499" y="4953000"/>
            <a:ext cx="2590799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875" b="1" a:ea="Microsoft YaHei" a:latin="Aptos">
                <a:solidFill>
                  <a:srgbClr val="C7F36B"/>
                </a:solidFill>
                <a:latin typeface="Microsoft YaHei"/>
              </a:rPr>
              <a:t>合法值</a:t>
            </a:r>
          </a:p>
        </p:txBody>
      </p:sp>
      <p:sp>
        <p:nvSpPr>
          <p:cNvPr id="20" name="Oval 19"/>
          <p:cNvSpPr/>
          <p:nvPr/>
        </p:nvSpPr>
        <p:spPr>
          <a:xfrm>
            <a:off x="5631179" y="2186940"/>
            <a:ext cx="320039" cy="32004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54039" y="2156460"/>
            <a:ext cx="27431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950" b="1" a:ea="Microsoft YaHei" a:latin="Aptos">
                <a:solidFill>
                  <a:srgbClr val="07111F"/>
                </a:solidFill>
                <a:latin typeface="Microsoft YaHe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199" y="2057400"/>
            <a:ext cx="4267199" cy="350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50" b="1" a:ea="Microsoft YaHei" a:latin="Aptos">
                <a:solidFill>
                  <a:srgbClr val="F1F8FF"/>
                </a:solidFill>
                <a:latin typeface="Microsoft YaHei"/>
              </a:rPr>
              <a:t>安全整数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2468880"/>
            <a:ext cx="4343399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25" b="0" a:ea="Microsoft YaHei" a:latin="Aptos">
                <a:solidFill>
                  <a:srgbClr val="8EA6BA"/>
                </a:solidFill>
                <a:latin typeface="Aptos"/>
              </a:rPr>
              <a:t>0..9007199254740991</a:t>
            </a:r>
          </a:p>
        </p:txBody>
      </p:sp>
      <p:sp>
        <p:nvSpPr>
          <p:cNvPr id="24" name="Oval 23"/>
          <p:cNvSpPr/>
          <p:nvPr/>
        </p:nvSpPr>
        <p:spPr>
          <a:xfrm>
            <a:off x="5631179" y="3368040"/>
            <a:ext cx="320039" cy="32004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54039" y="3337560"/>
            <a:ext cx="27431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950" b="1" a:ea="Microsoft YaHei" a:latin="Aptos">
                <a:solidFill>
                  <a:srgbClr val="07111F"/>
                </a:solidFill>
                <a:latin typeface="Microsoft YaHe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199" y="3238500"/>
            <a:ext cx="4267199" cy="350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50" b="1" a:ea="Microsoft YaHei" a:latin="Aptos">
                <a:solidFill>
                  <a:srgbClr val="F1F8FF"/>
                </a:solidFill>
                <a:latin typeface="Microsoft YaHei"/>
              </a:rPr>
              <a:t>立即刷新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199" y="3649980"/>
            <a:ext cx="4343399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25" b="0" a:ea="Microsoft YaHei" a:latin="Aptos">
                <a:solidFill>
                  <a:srgbClr val="8EA6BA"/>
                </a:solidFill>
                <a:latin typeface="Microsoft YaHei"/>
              </a:rPr>
              <a:t>保存后重分类</a:t>
            </a:r>
          </a:p>
        </p:txBody>
      </p:sp>
      <p:sp>
        <p:nvSpPr>
          <p:cNvPr id="28" name="Oval 27"/>
          <p:cNvSpPr/>
          <p:nvPr/>
        </p:nvSpPr>
        <p:spPr>
          <a:xfrm>
            <a:off x="5631179" y="4549140"/>
            <a:ext cx="320039" cy="32004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54039" y="4518660"/>
            <a:ext cx="27431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950" b="1" a:ea="Microsoft YaHei" a:latin="Aptos">
                <a:solidFill>
                  <a:srgbClr val="07111F"/>
                </a:solidFill>
                <a:latin typeface="Microsoft YaHe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199" y="4419600"/>
            <a:ext cx="4267199" cy="350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50" b="1" a:ea="Microsoft YaHei" a:latin="Aptos">
                <a:solidFill>
                  <a:srgbClr val="F1F8FF"/>
                </a:solidFill>
                <a:latin typeface="Microsoft YaHei"/>
              </a:rPr>
              <a:t>持久化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199" y="4831080"/>
            <a:ext cx="4343399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25" b="0" a:ea="Microsoft YaHei" a:latin="Aptos">
                <a:solidFill>
                  <a:srgbClr val="8EA6BA"/>
                </a:solidFill>
                <a:latin typeface="Microsoft YaHei"/>
              </a:rPr>
              <a:t>重开仍保留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GREEN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15 · TWO GATES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质量双门：互补，不替代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79" y="2057400"/>
            <a:ext cx="4952999" cy="2971800"/>
          </a:xfrm>
          <a:prstGeom prst="roundRect">
            <a:avLst>
              <a:gd name="adj" fmla="val 6666"/>
            </a:avLst>
          </a:prstGeom>
          <a:solidFill>
            <a:srgbClr val="102237"/>
          </a:solidFill>
          <a:ln w="17780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2331720"/>
            <a:ext cx="40385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a:ea="Microsoft YaHei" a:latin="Aptos">
                <a:solidFill>
                  <a:srgbClr val="38D6FF"/>
                </a:solidFill>
                <a:latin typeface="Aptos"/>
              </a:rPr>
              <a:t>GATE 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19" y="2849880"/>
            <a:ext cx="3962399" cy="441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925" b="1" a:ea="Microsoft YaHei" a:latin="Aptos">
                <a:solidFill>
                  <a:srgbClr val="F1F8FF"/>
                </a:solidFill>
                <a:latin typeface="Aptos"/>
              </a:rPr>
              <a:t>Code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19" y="3581400"/>
            <a:ext cx="380999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75" b="0" a:ea="Microsoft YaHei" a:latin="Aptos">
                <a:solidFill>
                  <a:srgbClr val="8EA6BA"/>
                </a:solidFill>
                <a:latin typeface="Microsoft YaHei"/>
              </a:rPr>
              <a:t>安全 · 清晰 · 可维护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98919" y="2057400"/>
            <a:ext cx="4952999" cy="2971800"/>
          </a:xfrm>
          <a:prstGeom prst="roundRect">
            <a:avLst>
              <a:gd name="adj" fmla="val 6666"/>
            </a:avLst>
          </a:prstGeom>
          <a:solidFill>
            <a:srgbClr val="102237"/>
          </a:solidFill>
          <a:ln w="17780">
            <a:solidFill>
              <a:srgbClr val="C7F3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18959" y="2331720"/>
            <a:ext cx="40385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a:ea="Microsoft YaHei" a:latin="Aptos">
                <a:solidFill>
                  <a:srgbClr val="C7F36B"/>
                </a:solidFill>
                <a:latin typeface="Aptos"/>
              </a:rPr>
              <a:t>GATE 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18959" y="2849880"/>
            <a:ext cx="4114799" cy="441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550" b="1" a:ea="Microsoft YaHei" a:latin="Aptos">
                <a:solidFill>
                  <a:srgbClr val="F1F8FF"/>
                </a:solidFill>
                <a:latin typeface="Aptos"/>
              </a:rPr>
              <a:t>OpenSpec Verification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18959" y="3581400"/>
            <a:ext cx="380999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75" b="0" a:ea="Microsoft YaHei" a:latin="Aptos">
                <a:solidFill>
                  <a:srgbClr val="8EA6BA"/>
                </a:solidFill>
                <a:latin typeface="Microsoft YaHei"/>
              </a:rPr>
              <a:t>约定行为 · 验收证据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593079" y="3543300"/>
            <a:ext cx="1005840" cy="0"/>
          </a:xfrm>
          <a:prstGeom prst="line">
            <a:avLst/>
          </a:prstGeom>
          <a:ln w="44450">
            <a:solidFill>
              <a:srgbClr val="4A8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6004559" y="3451860"/>
            <a:ext cx="182879" cy="182880"/>
          </a:xfrm>
          <a:prstGeom prst="ellipse">
            <a:avLst/>
          </a:prstGeom>
          <a:solidFill>
            <a:srgbClr val="4A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50079" y="5410200"/>
            <a:ext cx="3291839" cy="320040"/>
          </a:xfrm>
          <a:prstGeom prst="roundRect">
            <a:avLst>
              <a:gd name="adj" fmla="val 25000"/>
            </a:avLst>
          </a:prstGeom>
          <a:solidFill>
            <a:srgbClr val="091625"/>
          </a:solidFill>
          <a:ln w="10668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50079" y="5417820"/>
            <a:ext cx="329183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38D6FF"/>
                </a:solidFill>
                <a:latin typeface="Microsoft YaHei"/>
              </a:rPr>
              <a:t>两道都过，才关闭闭环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质量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16 · EVIDENCE 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证据清单：从聚焦到系统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79" y="2971800"/>
            <a:ext cx="1904999" cy="1981199"/>
          </a:xfrm>
          <a:prstGeom prst="roundRect">
            <a:avLst>
              <a:gd name="adj" fmla="val 8800"/>
            </a:avLst>
          </a:prstGeom>
          <a:solidFill>
            <a:srgbClr val="102237"/>
          </a:solidFill>
          <a:ln w="17780">
            <a:solidFill>
              <a:srgbClr val="C7F3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39" y="3246120"/>
            <a:ext cx="163067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225" b="1" a:ea="Microsoft YaHei" a:latin="Aptos">
                <a:solidFill>
                  <a:srgbClr val="F1F8FF"/>
                </a:solidFill>
                <a:latin typeface="Aptos"/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39" y="4450080"/>
            <a:ext cx="1630679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0" a:ea="Microsoft YaHei" a:latin="Aptos">
                <a:solidFill>
                  <a:srgbClr val="C7F36B"/>
                </a:solidFill>
                <a:latin typeface="Microsoft YaHei"/>
              </a:rPr>
              <a:t>聚焦测试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59" y="2788920"/>
            <a:ext cx="1904999" cy="2164080"/>
          </a:xfrm>
          <a:prstGeom prst="roundRect">
            <a:avLst>
              <a:gd name="adj" fmla="val 8800"/>
            </a:avLst>
          </a:prstGeom>
          <a:solidFill>
            <a:srgbClr val="102237"/>
          </a:solidFill>
          <a:ln w="17780">
            <a:solidFill>
              <a:srgbClr val="C7F3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17519" y="3063240"/>
            <a:ext cx="163067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225" b="1" a:ea="Microsoft YaHei" a:latin="Aptos">
                <a:solidFill>
                  <a:srgbClr val="F1F8FF"/>
                </a:solidFill>
                <a:latin typeface="Aptos"/>
              </a:rPr>
              <a:t>1076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19" y="4450080"/>
            <a:ext cx="1630679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0" a:ea="Microsoft YaHei" a:latin="Aptos">
                <a:solidFill>
                  <a:srgbClr val="C7F36B"/>
                </a:solidFill>
                <a:latin typeface="Microsoft YaHei"/>
              </a:rPr>
              <a:t>全量测试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39" y="2606040"/>
            <a:ext cx="1904999" cy="2346960"/>
          </a:xfrm>
          <a:prstGeom prst="roundRect">
            <a:avLst>
              <a:gd name="adj" fmla="val 8800"/>
            </a:avLst>
          </a:prstGeom>
          <a:solidFill>
            <a:srgbClr val="102237"/>
          </a:solidFill>
          <a:ln w="17780"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7799" y="2880360"/>
            <a:ext cx="163067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025" b="1" a:ea="Microsoft YaHei" a:latin="Aptos">
                <a:solidFill>
                  <a:srgbClr val="F1F8FF"/>
                </a:solidFill>
                <a:latin typeface="Aptos"/>
              </a:rPr>
              <a:t>STRICT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799" y="4450080"/>
            <a:ext cx="1630679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0" a:ea="Microsoft YaHei" a:latin="Aptos">
                <a:solidFill>
                  <a:srgbClr val="38D6FF"/>
                </a:solidFill>
                <a:latin typeface="Microsoft YaHei"/>
              </a:rPr>
              <a:t>规格结构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19" y="2423160"/>
            <a:ext cx="1904999" cy="2529840"/>
          </a:xfrm>
          <a:prstGeom prst="roundRect">
            <a:avLst>
              <a:gd name="adj" fmla="val 8800"/>
            </a:avLst>
          </a:prstGeom>
          <a:solidFill>
            <a:srgbClr val="102237"/>
          </a:solidFill>
          <a:ln w="17780">
            <a:solidFill>
              <a:srgbClr val="4A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79" y="2697480"/>
            <a:ext cx="163067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225" b="1" a:ea="Microsoft YaHei" a:latin="Aptos">
                <a:solidFill>
                  <a:srgbClr val="F1F8FF"/>
                </a:solidFill>
                <a:latin typeface="Aptos"/>
              </a:rPr>
              <a:t>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450080"/>
            <a:ext cx="1630679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0" a:ea="Microsoft YaHei" a:latin="Aptos">
                <a:solidFill>
                  <a:srgbClr val="4A88FF"/>
                </a:solidFill>
                <a:latin typeface="Microsoft YaHei"/>
              </a:rPr>
              <a:t>Electron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1199" y="2240280"/>
            <a:ext cx="1904999" cy="2712720"/>
          </a:xfrm>
          <a:prstGeom prst="roundRect">
            <a:avLst>
              <a:gd name="adj" fmla="val 8800"/>
            </a:avLst>
          </a:prstGeom>
          <a:solidFill>
            <a:srgbClr val="102237"/>
          </a:solidFill>
          <a:ln w="17780">
            <a:solidFill>
              <a:srgbClr val="C7F3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38359" y="2514600"/>
            <a:ext cx="163067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225" b="1" a:ea="Microsoft YaHei" a:latin="Aptos">
                <a:solidFill>
                  <a:srgbClr val="F1F8FF"/>
                </a:solidFill>
                <a:latin typeface="Aptos"/>
              </a:rPr>
              <a:t>1 /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59" y="4450080"/>
            <a:ext cx="1630679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0" a:ea="Microsoft YaHei" a:latin="Aptos">
                <a:solidFill>
                  <a:srgbClr val="C7F36B"/>
                </a:solidFill>
                <a:latin typeface="Microsoft YaHei"/>
              </a:rPr>
              <a:t>布局 E2E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79" y="5425440"/>
            <a:ext cx="10911839" cy="457200"/>
          </a:xfrm>
          <a:prstGeom prst="roundRect">
            <a:avLst>
              <a:gd name="adj" fmla="val 20000"/>
            </a:avLst>
          </a:prstGeom>
          <a:solidFill>
            <a:srgbClr val="091625"/>
          </a:solidFill>
          <a:ln w="13334">
            <a:solidFill>
              <a:srgbClr val="F4C9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199" y="5516880"/>
            <a:ext cx="105155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50" b="1" a:ea="Microsoft YaHei" a:latin="Aptos">
                <a:solidFill>
                  <a:srgbClr val="F4C95D"/>
                </a:solidFill>
                <a:latin typeface="Microsoft YaHei"/>
              </a:rPr>
              <a:t>macOS arm64 构建通过 ≠ Windows 平台验证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证据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17 · DAILY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800100"/>
            <a:ext cx="8839199" cy="701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a:ea="Microsoft YaHei" a:latin="Aptos">
                <a:solidFill>
                  <a:srgbClr val="F1F8FF"/>
                </a:solidFill>
                <a:latin typeface="Microsoft YaHei"/>
              </a:rPr>
              <a:t>把闭环变成日常动作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1099" y="2286000"/>
            <a:ext cx="1904999" cy="944879"/>
          </a:xfrm>
          <a:prstGeom prst="roundRect">
            <a:avLst>
              <a:gd name="adj" fmla="val 16129"/>
            </a:avLst>
          </a:prstGeom>
          <a:solidFill>
            <a:srgbClr val="102237"/>
          </a:solidFill>
          <a:ln w="13334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8259" y="2423160"/>
            <a:ext cx="32003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a:ea="Microsoft YaHei" a:latin="Aptos">
                <a:solidFill>
                  <a:srgbClr val="38D6FF"/>
                </a:solidFill>
                <a:latin typeface="Aptos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8259" y="2712720"/>
            <a:ext cx="163067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25" b="1" a:ea="Microsoft YaHei" a:latin="Aptos">
                <a:solidFill>
                  <a:srgbClr val="F1F8FF"/>
                </a:solidFill>
                <a:latin typeface="Microsoft YaHei"/>
              </a:rPr>
              <a:t>读上下文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65019" y="2758440"/>
            <a:ext cx="1592580" cy="0"/>
          </a:xfrm>
          <a:prstGeom prst="line">
            <a:avLst/>
          </a:prstGeom>
          <a:ln w="26669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3607307" y="2708148"/>
            <a:ext cx="100584" cy="100584"/>
          </a:xfrm>
          <a:prstGeom prst="triangle">
            <a:avLst/>
          </a:prstGeom>
          <a:solidFill>
            <a:srgbClr val="38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19499" y="2286000"/>
            <a:ext cx="1904999" cy="944879"/>
          </a:xfrm>
          <a:prstGeom prst="roundRect">
            <a:avLst>
              <a:gd name="adj" fmla="val 16129"/>
            </a:avLst>
          </a:prstGeom>
          <a:solidFill>
            <a:srgbClr val="102237"/>
          </a:solidFill>
          <a:ln w="13334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56659" y="2423160"/>
            <a:ext cx="32003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a:ea="Microsoft YaHei" a:latin="Aptos">
                <a:solidFill>
                  <a:srgbClr val="38D6FF"/>
                </a:solidFill>
                <a:latin typeface="Apto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56659" y="2712720"/>
            <a:ext cx="163067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25" b="1" a:ea="Microsoft YaHei" a:latin="Aptos">
                <a:solidFill>
                  <a:srgbClr val="F1F8FF"/>
                </a:solidFill>
                <a:latin typeface="Microsoft YaHei"/>
              </a:rPr>
              <a:t>定目标 / 边界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03419" y="2758440"/>
            <a:ext cx="1592580" cy="0"/>
          </a:xfrm>
          <a:prstGeom prst="line">
            <a:avLst/>
          </a:prstGeom>
          <a:ln w="26669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6045707" y="2708148"/>
            <a:ext cx="100584" cy="100584"/>
          </a:xfrm>
          <a:prstGeom prst="triangle">
            <a:avLst/>
          </a:prstGeom>
          <a:solidFill>
            <a:srgbClr val="38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57899" y="2286000"/>
            <a:ext cx="1904999" cy="944879"/>
          </a:xfrm>
          <a:prstGeom prst="roundRect">
            <a:avLst>
              <a:gd name="adj" fmla="val 16129"/>
            </a:avLst>
          </a:prstGeom>
          <a:solidFill>
            <a:srgbClr val="102237"/>
          </a:solidFill>
          <a:ln w="13334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5059" y="2423160"/>
            <a:ext cx="32003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a:ea="Microsoft YaHei" a:latin="Aptos">
                <a:solidFill>
                  <a:srgbClr val="38D6FF"/>
                </a:solidFill>
                <a:latin typeface="Aptos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5059" y="2712720"/>
            <a:ext cx="163067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25" b="1" a:ea="Microsoft YaHei" a:latin="Aptos">
                <a:solidFill>
                  <a:srgbClr val="F1F8FF"/>
                </a:solidFill>
                <a:latin typeface="Microsoft YaHei"/>
              </a:rPr>
              <a:t>按风险选流程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41819" y="2758440"/>
            <a:ext cx="1592580" cy="0"/>
          </a:xfrm>
          <a:prstGeom prst="line">
            <a:avLst/>
          </a:prstGeom>
          <a:ln w="26669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8484107" y="2708148"/>
            <a:ext cx="100584" cy="100584"/>
          </a:xfrm>
          <a:prstGeom prst="triangle">
            <a:avLst/>
          </a:prstGeom>
          <a:solidFill>
            <a:srgbClr val="38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96299" y="2286000"/>
            <a:ext cx="1904999" cy="944879"/>
          </a:xfrm>
          <a:prstGeom prst="roundRect">
            <a:avLst>
              <a:gd name="adj" fmla="val 16129"/>
            </a:avLst>
          </a:prstGeom>
          <a:solidFill>
            <a:srgbClr val="102237"/>
          </a:solidFill>
          <a:ln w="13334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33459" y="2423160"/>
            <a:ext cx="32003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a:ea="Microsoft YaHei" a:latin="Aptos">
                <a:solidFill>
                  <a:srgbClr val="38D6FF"/>
                </a:solidFill>
                <a:latin typeface="Aptos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33459" y="2712720"/>
            <a:ext cx="163067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25" b="1" a:ea="Microsoft YaHei" a:latin="Aptos">
                <a:solidFill>
                  <a:srgbClr val="F1F8FF"/>
                </a:solidFill>
                <a:latin typeface="Microsoft YaHei"/>
              </a:rPr>
              <a:t>限制写入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8534399" y="2758440"/>
            <a:ext cx="845820" cy="2362200"/>
          </a:xfrm>
          <a:prstGeom prst="line">
            <a:avLst/>
          </a:prstGeom>
          <a:ln w="26669">
            <a:solidFill>
              <a:srgbClr val="4A8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/>
          <p:cNvSpPr/>
          <p:nvPr/>
        </p:nvSpPr>
        <p:spPr>
          <a:xfrm rot="11982039">
            <a:off x="8484107" y="5070348"/>
            <a:ext cx="100584" cy="100584"/>
          </a:xfrm>
          <a:prstGeom prst="triangle">
            <a:avLst/>
          </a:prstGeom>
          <a:solidFill>
            <a:srgbClr val="4A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96299" y="4648200"/>
            <a:ext cx="1904999" cy="944879"/>
          </a:xfrm>
          <a:prstGeom prst="roundRect">
            <a:avLst>
              <a:gd name="adj" fmla="val 16129"/>
            </a:avLst>
          </a:prstGeom>
          <a:solidFill>
            <a:srgbClr val="102237"/>
          </a:solidFill>
          <a:ln w="13334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33459" y="4785360"/>
            <a:ext cx="32003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a:ea="Microsoft YaHei" a:latin="Aptos">
                <a:solidFill>
                  <a:srgbClr val="38D6FF"/>
                </a:solidFill>
                <a:latin typeface="Aptos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33459" y="5074920"/>
            <a:ext cx="163067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25" b="1" a:ea="Microsoft YaHei" a:latin="Aptos">
                <a:solidFill>
                  <a:srgbClr val="F1F8FF"/>
                </a:solidFill>
                <a:latin typeface="Microsoft YaHei"/>
              </a:rPr>
              <a:t>看 diff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6095999" y="5120640"/>
            <a:ext cx="3284220" cy="0"/>
          </a:xfrm>
          <a:prstGeom prst="line">
            <a:avLst/>
          </a:prstGeom>
          <a:ln w="26669">
            <a:solidFill>
              <a:srgbClr val="4A8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16200000">
            <a:off x="6045707" y="5070348"/>
            <a:ext cx="100584" cy="100584"/>
          </a:xfrm>
          <a:prstGeom prst="triangle">
            <a:avLst/>
          </a:prstGeom>
          <a:solidFill>
            <a:srgbClr val="4A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057899" y="4648200"/>
            <a:ext cx="1904999" cy="944879"/>
          </a:xfrm>
          <a:prstGeom prst="roundRect">
            <a:avLst>
              <a:gd name="adj" fmla="val 16129"/>
            </a:avLst>
          </a:prstGeom>
          <a:solidFill>
            <a:srgbClr val="102237"/>
          </a:solidFill>
          <a:ln w="13334">
            <a:solidFill>
              <a:srgbClr val="173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5059" y="4785360"/>
            <a:ext cx="32003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a:ea="Microsoft YaHei" a:latin="Aptos">
                <a:solidFill>
                  <a:srgbClr val="38D6FF"/>
                </a:solidFill>
                <a:latin typeface="Aptos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5059" y="5074920"/>
            <a:ext cx="163067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25" b="1" a:ea="Microsoft YaHei" a:latin="Aptos">
                <a:solidFill>
                  <a:srgbClr val="F1F8FF"/>
                </a:solidFill>
                <a:latin typeface="Microsoft YaHei"/>
              </a:rPr>
              <a:t>聚焦证据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3657599" y="5120640"/>
            <a:ext cx="3284220" cy="0"/>
          </a:xfrm>
          <a:prstGeom prst="line">
            <a:avLst/>
          </a:prstGeom>
          <a:ln w="26669">
            <a:solidFill>
              <a:srgbClr val="4A8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Isosceles Triangle 45"/>
          <p:cNvSpPr/>
          <p:nvPr/>
        </p:nvSpPr>
        <p:spPr>
          <a:xfrm rot="16200000">
            <a:off x="3607307" y="5070348"/>
            <a:ext cx="100584" cy="100584"/>
          </a:xfrm>
          <a:prstGeom prst="triangle">
            <a:avLst/>
          </a:prstGeom>
          <a:solidFill>
            <a:srgbClr val="4A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619499" y="4648200"/>
            <a:ext cx="1904999" cy="944879"/>
          </a:xfrm>
          <a:prstGeom prst="roundRect">
            <a:avLst>
              <a:gd name="adj" fmla="val 16129"/>
            </a:avLst>
          </a:prstGeom>
          <a:solidFill>
            <a:srgbClr val="102237"/>
          </a:solidFill>
          <a:ln w="13334">
            <a:solidFill>
              <a:srgbClr val="C7F3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756659" y="4785360"/>
            <a:ext cx="32003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a:ea="Microsoft YaHei" a:latin="Aptos">
                <a:solidFill>
                  <a:srgbClr val="38D6FF"/>
                </a:solidFill>
                <a:latin typeface="Aptos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56659" y="5074920"/>
            <a:ext cx="163067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25" b="1" a:ea="Microsoft YaHei" a:latin="Aptos">
                <a:solidFill>
                  <a:srgbClr val="F1F8FF"/>
                </a:solidFill>
                <a:latin typeface="Microsoft YaHei"/>
              </a:rPr>
              <a:t>质量双门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19999" y="5867400"/>
            <a:ext cx="3505199" cy="320040"/>
          </a:xfrm>
          <a:prstGeom prst="roundRect">
            <a:avLst>
              <a:gd name="adj" fmla="val 25000"/>
            </a:avLst>
          </a:prstGeom>
          <a:solidFill>
            <a:srgbClr val="091625"/>
          </a:solidFill>
          <a:ln w="10668">
            <a:solidFill>
              <a:srgbClr val="C7F3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19999" y="5875020"/>
            <a:ext cx="3505199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 a:ea="Microsoft YaHei" a:latin="Aptos">
                <a:solidFill>
                  <a:srgbClr val="C7F36B"/>
                </a:solidFill>
                <a:latin typeface="Microsoft YaHei"/>
              </a:rPr>
              <a:t>小步、可见、可回环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落地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7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534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3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535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631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7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823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191999" y="0"/>
            <a:ext cx="0" cy="160020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34399" y="2286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4399" y="6858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4399" y="11430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4399" y="1600200"/>
            <a:ext cx="365760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79" y="594360"/>
            <a:ext cx="320040" cy="0"/>
          </a:xfrm>
          <a:prstGeom prst="line">
            <a:avLst/>
          </a:prstGeom>
          <a:ln w="4445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04899" y="419100"/>
            <a:ext cx="5486399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75" b="0" a:ea="Microsoft YaHei" a:latin="Aptos">
                <a:solidFill>
                  <a:srgbClr val="38D6FF"/>
                </a:solidFill>
                <a:latin typeface="Aptos"/>
              </a:rPr>
              <a:t>18 · Q&amp;A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39" y="1310640"/>
            <a:ext cx="6095999" cy="624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4650" b="1" a:ea="Microsoft YaHei" a:latin="Aptos">
                <a:solidFill>
                  <a:srgbClr val="38D6FF"/>
                </a:solidFill>
                <a:latin typeface="Aptos"/>
              </a:rPr>
              <a:t>Q&amp;A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39" y="2438400"/>
            <a:ext cx="10942319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250" b="1" a:ea="Microsoft YaHei" a:latin="Aptos">
                <a:solidFill>
                  <a:srgbClr val="F1F8FF"/>
                </a:solidFill>
                <a:latin typeface="Microsoft YaHei"/>
              </a:rPr>
              <a:t>受控 · 证据 · 闭环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90799" y="3733799"/>
            <a:ext cx="7010400" cy="0"/>
          </a:xfrm>
          <a:prstGeom prst="line">
            <a:avLst/>
          </a:prstGeom>
          <a:ln w="1778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81199" y="4267200"/>
            <a:ext cx="8229599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50" b="0" a:ea="Microsoft YaHei" a:latin="Aptos">
                <a:solidFill>
                  <a:srgbClr val="8EA6BA"/>
                </a:solidFill>
                <a:latin typeface="Microsoft YaHei"/>
              </a:rPr>
              <a:t>让 AI 加速开发，让证据决定完成。</a:t>
            </a:r>
          </a:p>
        </p:txBody>
      </p:sp>
      <p:sp>
        <p:nvSpPr>
          <p:cNvPr id="20" name="Oval 19"/>
          <p:cNvSpPr/>
          <p:nvPr/>
        </p:nvSpPr>
        <p:spPr>
          <a:xfrm>
            <a:off x="6004559" y="5379720"/>
            <a:ext cx="182879" cy="1828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24839" y="6454140"/>
            <a:ext cx="10942320" cy="0"/>
          </a:xfrm>
          <a:prstGeom prst="line">
            <a:avLst/>
          </a:prstGeom>
          <a:ln w="8890">
            <a:solidFill>
              <a:srgbClr val="1731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4839" y="6454140"/>
            <a:ext cx="30480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29639" y="6385560"/>
            <a:ext cx="76200" cy="6858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05839" y="6385560"/>
            <a:ext cx="76200" cy="12192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082039" y="6454140"/>
            <a:ext cx="83820" cy="5334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65859" y="6454140"/>
            <a:ext cx="205740" cy="0"/>
          </a:xfrm>
          <a:prstGeom prst="line">
            <a:avLst/>
          </a:prstGeom>
          <a:ln w="17780">
            <a:solidFill>
              <a:srgbClr val="38D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413509" y="6419850"/>
            <a:ext cx="68579" cy="68580"/>
          </a:xfrm>
          <a:prstGeom prst="ellipse">
            <a:avLst/>
          </a:prstGeom>
          <a:solidFill>
            <a:srgbClr val="C7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00199" y="6492240"/>
            <a:ext cx="198119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Microsoft YaHei"/>
              </a:rPr>
              <a:t>收尾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799" y="6492240"/>
            <a:ext cx="59435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50" b="0" a:ea="Microsoft YaHei" a:latin="Aptos">
                <a:solidFill>
                  <a:srgbClr val="8EA6BA"/>
                </a:solidFill>
                <a:latin typeface="Aptos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